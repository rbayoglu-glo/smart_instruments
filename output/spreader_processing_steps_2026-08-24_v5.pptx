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200"/>
              <a:t>Spreader Data Processing And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Updated 2026-08-28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Workflow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1. Sync-check raw force and raw theta traces across interventions.</a:t>
            </a:r>
          </a:p>
          <a:p>
            <a:pPr>
              <a:defRPr sz="1900"/>
            </a:pPr>
            <a:r>
              <a:t>2. Apply force/theta filters only (no theta0 extraction yet).</a:t>
            </a:r>
          </a:p>
          <a:p>
            <a:pPr>
              <a:defRPr sz="1900"/>
            </a:pPr>
            <a:r>
              <a:t>3. Apply preload removal + theta0 baseline extraction + ramp-start detection with theta snap.</a:t>
            </a:r>
          </a:p>
          <a:p>
            <a:pPr>
              <a:defRPr sz="1900"/>
            </a:pPr>
            <a:r>
              <a:t>4. Mark transition-flagged cycles as ineligible.</a:t>
            </a:r>
          </a:p>
          <a:p>
            <a:pPr>
              <a:defRPr sz="1900"/>
            </a:pPr>
            <a:r>
              <a:t>5. Fit force-tip linear region using displacement &gt;= 0 mm points (some cycles can fail fit criteria).</a:t>
            </a:r>
          </a:p>
          <a:p>
            <a:pPr>
              <a:defRPr sz="1900"/>
            </a:pPr>
            <a:r>
              <a:t>6. Fit moment-theta linear region using theta &gt;= 0 deg points (some cycles can fail fit criteria).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1: Raw Force-Theta Sync Check</a:t>
            </a:r>
          </a:p>
        </p:txBody>
      </p:sp>
      <p:pic>
        <p:nvPicPr>
          <p:cNvPr id="3" name="Picture 2" descr="sync_check_all_interventions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All interventions stacked before filtering/corrections.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2: Filtering Only (No Theta0 Yet)</a:t>
            </a:r>
          </a:p>
        </p:txBody>
      </p:sp>
      <p:pic>
        <p:nvPicPr>
          <p:cNvPr id="3" name="Picture 2" descr="sync_check_all_interventions_stacked_filtered_ramp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Filtered force/theta signals only; no theta0 extraction or preload removal in this step.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3: Preload Removal + Theta0 + Ramp-Start Snap</a:t>
            </a:r>
          </a:p>
        </p:txBody>
      </p:sp>
      <p:pic>
        <p:nvPicPr>
          <p:cNvPr id="3" name="Picture 2" descr="sync_check_all_interventions_stacked_filtered_rampstart_preloadfree_theta0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Signals after preload removal, theta0 baseline extraction, and ramp-start detection with theta snap.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4: Mark And Exclude Ineligible Cycles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106424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Step 4: Cycle Eligibility (Transition-Flag Filtering)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Intervention              n_cycles   eligible   ineligible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FBF     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FUF     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Intact  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PUF     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Posterior Release              10         10            0</a:t>
            </a:r>
          </a:p>
          <a:p>
            <a:pPr>
              <a:defRPr sz="1200">
                <a:latin typeface="Consolas"/>
              </a:defRPr>
            </a:pPr>
            <a:r>
              <a:t>SPO                             9          6            3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Rule: transition-flagged cycles are excluded from stiffness fitting.</a:t>
            </a:r>
          </a:p>
          <a:p>
            <a:pPr>
              <a:defRPr sz="1200">
                <a:latin typeface="Consolas"/>
              </a:defRPr>
            </a:pPr>
            <a:r>
              <a:t>Note: ineligible here only counts transition_flag=True cycles.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Additional exclusions can occur later at fit stage (separate from transition flags):</a:t>
            </a:r>
          </a:p>
          <a:p>
            <a:pPr>
              <a:defRPr sz="1200">
                <a:latin typeface="Consolas"/>
              </a:defRPr>
            </a:pPr>
            <a:r>
              <a:t>Intervention              force-fit excluded   moment-fit excluded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FBF                                       0                     0</a:t>
            </a:r>
          </a:p>
          <a:p>
            <a:pPr>
              <a:defRPr sz="1200">
                <a:latin typeface="Consolas"/>
              </a:defRPr>
            </a:pPr>
            <a:r>
              <a:t>FUF                                       0                     0</a:t>
            </a:r>
          </a:p>
          <a:p>
            <a:pPr>
              <a:defRPr sz="1200">
                <a:latin typeface="Consolas"/>
              </a:defRPr>
            </a:pPr>
            <a:r>
              <a:t>Intact                                    1                     1</a:t>
            </a:r>
          </a:p>
          <a:p>
            <a:pPr>
              <a:defRPr sz="1200">
                <a:latin typeface="Consolas"/>
              </a:defRPr>
            </a:pPr>
            <a:r>
              <a:t>PUF                                       0                     0</a:t>
            </a:r>
          </a:p>
          <a:p>
            <a:pPr>
              <a:defRPr sz="1200">
                <a:latin typeface="Consolas"/>
              </a:defRPr>
            </a:pPr>
            <a:r>
              <a:t>Posterior Release                         0                     0</a:t>
            </a:r>
          </a:p>
          <a:p>
            <a:pPr>
              <a:defRPr sz="1200">
                <a:latin typeface="Consolas"/>
              </a:defRPr>
            </a:pPr>
            <a:r>
              <a:t>SPO                                       3                    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5A: Force-Tip Linear Region Fitting: Intact</a:t>
            </a:r>
          </a:p>
        </p:txBody>
      </p:sp>
      <p:pic>
        <p:nvPicPr>
          <p:cNvPr id="3" name="Picture 2" descr="2___Intact_Holding_Longer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16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mm; shared force y-limits) for Intact.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5A: Force-Tip Linear Region Fitting: PUF</a:t>
            </a:r>
          </a:p>
        </p:txBody>
      </p:sp>
      <p:pic>
        <p:nvPicPr>
          <p:cNvPr id="3" name="Picture 2" descr="3___PUBF_Left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16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mm; shared force y-limits) for PUF.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5A: Force-Tip Linear Region Fitting: FUF</a:t>
            </a:r>
          </a:p>
        </p:txBody>
      </p:sp>
      <p:pic>
        <p:nvPicPr>
          <p:cNvPr id="3" name="Picture 2" descr="4___FUF_Left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16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mm; shared force y-limits) for FUF.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5A: Force-Tip Linear Region Fitting: FBF</a:t>
            </a:r>
          </a:p>
        </p:txBody>
      </p:sp>
      <p:pic>
        <p:nvPicPr>
          <p:cNvPr id="3" name="Picture 2" descr="5___FBF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16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mm; shared force y-limits) for FBF.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5A: Force-Tip Linear Region Fitting: Posterior Release</a:t>
            </a:r>
          </a:p>
        </p:txBody>
      </p:sp>
      <p:pic>
        <p:nvPicPr>
          <p:cNvPr id="3" name="Picture 2" descr="6___Posterior_Release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2708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mm; shared force y-limits) for Posterior Release.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5A: Force-Tip Linear Region Fitting: SPO</a:t>
            </a:r>
          </a:p>
        </p:txBody>
      </p:sp>
      <p:pic>
        <p:nvPicPr>
          <p:cNvPr id="3" name="Picture 2" descr="7___SPO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16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mm; shared force y-limits) for SPO.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5B: Linear Stiffness Results Across Interventions</a:t>
            </a:r>
          </a:p>
        </p:txBody>
      </p:sp>
      <p:pic>
        <p:nvPicPr>
          <p:cNvPr id="3" name="Picture 2" descr="all_interventions_linear_region_stiffness_mean_std_bar_by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5789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Mean ± SD from valid cycles (force-tip linear-region stiffness).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Linear Stiffness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106424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Step 6A Results: Linear-Region Force-Tip Stiffness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Rank  Intervention            median [N/mm]    mean [N/mm]   n_valid/n_cycles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   1  SPO                          8.158          7.037      6/9</a:t>
            </a:r>
          </a:p>
          <a:p>
            <a:pPr>
              <a:defRPr sz="1200">
                <a:latin typeface="Consolas"/>
              </a:defRPr>
            </a:pPr>
            <a:r>
              <a:t>   2  FUF                          8.158          7.851      9/9</a:t>
            </a:r>
          </a:p>
          <a:p>
            <a:pPr>
              <a:defRPr sz="1200">
                <a:latin typeface="Consolas"/>
              </a:defRPr>
            </a:pPr>
            <a:r>
              <a:t>   3  Posterior Release            7.716          8.775      10/10</a:t>
            </a:r>
          </a:p>
          <a:p>
            <a:pPr>
              <a:defRPr sz="1200">
                <a:latin typeface="Consolas"/>
              </a:defRPr>
            </a:pPr>
            <a:r>
              <a:t>   4  PUF                          7.170          7.450      9/9</a:t>
            </a:r>
          </a:p>
          <a:p>
            <a:pPr>
              <a:defRPr sz="1200">
                <a:latin typeface="Consolas"/>
              </a:defRPr>
            </a:pPr>
            <a:r>
              <a:t>   5  FBF                          7.086          6.495      9/9</a:t>
            </a:r>
          </a:p>
          <a:p>
            <a:pPr>
              <a:defRPr sz="1200">
                <a:latin typeface="Consolas"/>
              </a:defRPr>
            </a:pPr>
            <a:r>
              <a:t>   6  Intact                       4.011          5.483      8/9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6A: Moment-Theta Processing: Intact</a:t>
            </a:r>
          </a:p>
        </p:txBody>
      </p:sp>
      <p:pic>
        <p:nvPicPr>
          <p:cNvPr id="3" name="Picture 2" descr="2___Intact_Holding_Longer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345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deg; shared theta limits) for Intact.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6A: Moment-Theta Processing: PUF</a:t>
            </a:r>
          </a:p>
        </p:txBody>
      </p:sp>
      <p:pic>
        <p:nvPicPr>
          <p:cNvPr id="3" name="Picture 2" descr="3___PUBF_Left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345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deg; shared theta limits) for PUF.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6A: Moment-Theta Processing: FUF</a:t>
            </a:r>
          </a:p>
        </p:txBody>
      </p:sp>
      <p:pic>
        <p:nvPicPr>
          <p:cNvPr id="3" name="Picture 2" descr="4___FUF_Left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345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deg; shared theta limits) for FUF.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6A: Moment-Theta Processing: FBF</a:t>
            </a:r>
          </a:p>
        </p:txBody>
      </p:sp>
      <p:pic>
        <p:nvPicPr>
          <p:cNvPr id="3" name="Picture 2" descr="5___FBF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345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deg; shared theta limits) for FBF.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6A: Moment-Theta Processing: Posterior Release</a:t>
            </a:r>
          </a:p>
        </p:txBody>
      </p:sp>
      <p:pic>
        <p:nvPicPr>
          <p:cNvPr id="3" name="Picture 2" descr="6___Posterior_Release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2931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deg; shared theta limits) for Posterior Release.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6A: Moment-Theta Processing: SPO</a:t>
            </a:r>
          </a:p>
        </p:txBody>
      </p:sp>
      <p:pic>
        <p:nvPicPr>
          <p:cNvPr id="3" name="Picture 2" descr="7___SPO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345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deg; shared theta limits) for SPO.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6B: Rotational Stiffness Results Across Interventions</a:t>
            </a:r>
          </a:p>
        </p:txBody>
      </p:sp>
      <p:pic>
        <p:nvPicPr>
          <p:cNvPr id="3" name="Picture 2" descr="all_interventions_moment_theta_stiffness_mean_std_bar_by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5789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Mean ± SD from valid cycles (moment-theta stiffness).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Rotational Stiffness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106424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Step 6B Results: Moment-Theta Rotational Stiffness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Rank  Intervention            median [Nm/deg]   mean [Nm/deg]  n_valid/n_cycles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   1  SPO                            2.476          2.136     6/9</a:t>
            </a:r>
          </a:p>
          <a:p>
            <a:pPr>
              <a:defRPr sz="1200">
                <a:latin typeface="Consolas"/>
              </a:defRPr>
            </a:pPr>
            <a:r>
              <a:t>   2  FUF                            2.476          2.383     9/9</a:t>
            </a:r>
          </a:p>
          <a:p>
            <a:pPr>
              <a:defRPr sz="1200">
                <a:latin typeface="Consolas"/>
              </a:defRPr>
            </a:pPr>
            <a:r>
              <a:t>   3  Posterior Release              2.342          2.663     10/10</a:t>
            </a:r>
          </a:p>
          <a:p>
            <a:pPr>
              <a:defRPr sz="1200">
                <a:latin typeface="Consolas"/>
              </a:defRPr>
            </a:pPr>
            <a:r>
              <a:t>   4  PUF                            2.176          2.261     9/9</a:t>
            </a:r>
          </a:p>
          <a:p>
            <a:pPr>
              <a:defRPr sz="1200">
                <a:latin typeface="Consolas"/>
              </a:defRPr>
            </a:pPr>
            <a:r>
              <a:t>   5  FBF                            2.151          1.971     9/9</a:t>
            </a:r>
          </a:p>
          <a:p>
            <a:pPr>
              <a:defRPr sz="1200">
                <a:latin typeface="Consolas"/>
              </a:defRPr>
            </a:pPr>
            <a:r>
              <a:t>   6  Intact                         1.217          1.664     8/9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Appended Update: Fit-Point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This version appends re-analysis results with explicit fit-point thresholds.</a:t>
            </a:r>
          </a:p>
          <a:p>
            <a:pPr>
              <a:defRPr sz="1900"/>
            </a:pPr>
            <a:r>
              <a:t>Displacement stiffness fitting: use only displacement &gt;= 0 mm points.</a:t>
            </a:r>
          </a:p>
          <a:p>
            <a:pPr>
              <a:defRPr sz="1900"/>
            </a:pPr>
            <a:r>
              <a:t>Rotational stiffness fitting: use only theta &gt;= 0 deg points.</a:t>
            </a:r>
          </a:p>
          <a:p>
            <a:pPr>
              <a:defRPr sz="1900"/>
            </a:pPr>
            <a:r>
              <a:t>All rankings/tables in this deck reflect these updated fit-selection rules.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Appendix: Filters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Median filter (theta, kernel=5): replaces each sample with local median; removes isolated spikes while preserving step/ramp edges better than mean smoothing.</a:t>
            </a:r>
          </a:p>
          <a:p>
            <a:pPr>
              <a:defRPr sz="1900"/>
            </a:pPr>
            <a:r>
              <a:t>Butterworth low-pass (order=2): force cutoff=1.5 Hz, theta cutoff=1.2 Hz; attenuates high-frequency noise while preserving low-frequency cycle shape and phase reasonably well.</a:t>
            </a:r>
          </a:p>
          <a:p>
            <a:pPr>
              <a:defRPr sz="1900"/>
            </a:pPr>
            <a:r>
              <a:t>MAD despiking before low-pass: force window=11, z=3.5; theta window=15, z=3.5; robust outlier suppression using rolling median absolute deviation.</a:t>
            </a:r>
          </a:p>
          <a:p>
            <a:pPr>
              <a:defRPr sz="1900"/>
            </a:pPr>
            <a:r>
              <a:t>Pseudo-ramp rejection: keep cycles only if run_samples&gt;=30, rise_time&gt;=1.2 s, and theta_rise&gt;=0.2 deg.</a:t>
            </a:r>
          </a:p>
          <a:p>
            <a:pPr>
              <a:defRPr sz="1900"/>
            </a:pPr>
            <a:r>
              <a:t>Duplicate-peak merge: close peaks are clustered and only strongest candidate retained (time-gap bounds 2.5 to 10.0 s).</a:t>
            </a:r>
          </a:p>
          <a:p>
            <a:pPr>
              <a:defRPr sz="1900"/>
            </a:pPr>
            <a:r>
              <a:t>Theta0 calibration filter: estimate zero-angle from low-force samples (&lt;5% Fmax) but exclude low-force blocks with |median theta|&gt;1.0 deg.</a:t>
            </a:r>
          </a:p>
          <a:p>
            <a:pPr>
              <a:defRPr sz="1900"/>
            </a:pPr>
            <a:r>
              <a:t>Ramp-start theta snap: move force-based ramp start to nearest theta~0 in early ramp window (1.5 s), unless start is already non-neutral (|theta|&gt;1.5 deg).</a:t>
            </a:r>
          </a:p>
          <a:p>
            <a:pPr>
              <a:defRPr sz="1900"/>
            </a:pPr>
            <a:r>
              <a:t>Linear-fit point constraints: displacement fits use x&gt;=0 mm; moment-theta fits use theta&gt;=0 deg; flat low-slope segments removed before regression.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Step-wise processing narrows from raw traces to quality-controlled cycles.</a:t>
            </a:r>
          </a:p>
          <a:p>
            <a:pPr>
              <a:defRPr sz="1900"/>
            </a:pPr>
            <a:r>
              <a:t>Results are reported in two complementary stiffness spaces:</a:t>
            </a:r>
          </a:p>
          <a:p>
            <a:pPr>
              <a:defRPr sz="1900"/>
            </a:pPr>
            <a:r>
              <a:t>force-tip (N/mm) and moment-theta (Nm/deg).</a:t>
            </a:r>
          </a:p>
          <a:p>
            <a:pPr>
              <a:defRPr sz="1900"/>
            </a:pPr>
            <a:r>
              <a:t>Rankings are based on median stiffness across valid cycles.</a:t>
            </a:r>
          </a:p>
          <a:p>
            <a:pPr>
              <a:defRPr sz="1900"/>
            </a:pPr>
            <a:r>
              <a:t>Fit-point constraints are displacement &gt;= 0 mm and theta &gt;= 0 deg.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