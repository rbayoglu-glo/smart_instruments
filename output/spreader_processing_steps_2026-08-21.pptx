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200"/>
              <a:t>Spreader Data Processing And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Updated 2026-08-21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Workflow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1. Sync-check raw force and angle traces across interventions.</a:t>
            </a:r>
          </a:p>
          <a:p>
            <a:pPr>
              <a:defRPr sz="1900"/>
            </a:pPr>
            <a:r>
              <a:t>2. Detect ramp starts and define analysis windows per cycle.</a:t>
            </a:r>
          </a:p>
          <a:p>
            <a:pPr>
              <a:defRPr sz="1900"/>
            </a:pPr>
            <a:r>
              <a:t>3. Remove preload and apply theta-zero correction.</a:t>
            </a:r>
          </a:p>
          <a:p>
            <a:pPr>
              <a:defRPr sz="1900"/>
            </a:pPr>
            <a:r>
              <a:t>4. Mark and exclude transition/ineligible cycles.</a:t>
            </a:r>
          </a:p>
          <a:p>
            <a:pPr>
              <a:defRPr sz="1900"/>
            </a:pPr>
            <a:r>
              <a:t>5. Fit force-tip linear region using displacement &gt;= 0 mm points.</a:t>
            </a:r>
          </a:p>
          <a:p>
            <a:pPr>
              <a:defRPr sz="1900"/>
            </a:pPr>
            <a:r>
              <a:t>6. Fit moment-theta linear region using theta &gt;= 0 deg 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1: Raw Force-Time Sync Check</a:t>
            </a:r>
          </a:p>
        </p:txBody>
      </p:sp>
      <p:pic>
        <p:nvPicPr>
          <p:cNvPr id="3" name="Picture 2" descr="sync_check_all_interventions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All interventions stacked before filtering/corrections.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2: Ramp-Start Detection</a:t>
            </a:r>
          </a:p>
        </p:txBody>
      </p:sp>
      <p:pic>
        <p:nvPicPr>
          <p:cNvPr id="3" name="Picture 2" descr="sync_check_all_interventions_stacked_filtered_ramp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Filtered traces with ramp-start windows for cycle-level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3: Preload-Free + Theta-Zero Corrected</a:t>
            </a:r>
          </a:p>
        </p:txBody>
      </p:sp>
      <p:pic>
        <p:nvPicPr>
          <p:cNvPr id="3" name="Picture 2" descr="sync_check_all_interventions_stacked_filtered_rampstart_preloadfree_theta0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Signals after preload removal and angle reference correction.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4: Mark And Exclude Ineligible 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106424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Step 4: Cycle Eligibility (Transition-Flag Filtering)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Intervention              n_cycles   eligible   ineligible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FBF    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FUF Left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Intact Holding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PUF Left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Posterior Release              10         10            0</a:t>
            </a:r>
          </a:p>
          <a:p>
            <a:pPr>
              <a:defRPr sz="1200">
                <a:latin typeface="Consolas"/>
              </a:defRPr>
            </a:pPr>
            <a:r>
              <a:t>SPO                             8          8            0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Rule: transition-flagged cycles are excluded from stiffness fitting.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5A: Force-Tip Linear Region Fitting: 2 - Intact Holding Longer</a:t>
            </a:r>
          </a:p>
        </p:txBody>
      </p:sp>
      <p:pic>
        <p:nvPicPr>
          <p:cNvPr id="3" name="Picture 2" descr="2___Intact_Holding_Longer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mm) for 2 - Intact Holding Longer.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5A: Force-Tip Linear Region Fitting: 3 - PUBF Left</a:t>
            </a:r>
          </a:p>
        </p:txBody>
      </p:sp>
      <p:pic>
        <p:nvPicPr>
          <p:cNvPr id="3" name="Picture 2" descr="3___PUBF_Left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mm) for 3 - PUBF Left.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5A: Force-Tip Linear Region Fitting: 4 - FUF Left</a:t>
            </a:r>
          </a:p>
        </p:txBody>
      </p:sp>
      <p:pic>
        <p:nvPicPr>
          <p:cNvPr id="3" name="Picture 2" descr="4___FUF_Left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mm) for 4 - FUF Left.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5A: Force-Tip Linear Region Fitting: 5 - FBF</a:t>
            </a:r>
          </a:p>
        </p:txBody>
      </p:sp>
      <p:pic>
        <p:nvPicPr>
          <p:cNvPr id="3" name="Picture 2" descr="5___FBF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mm) for 5 - FBF.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5A: Force-Tip Linear Region Fitting: 6 - Posterior Release</a:t>
            </a:r>
          </a:p>
        </p:txBody>
      </p:sp>
      <p:pic>
        <p:nvPicPr>
          <p:cNvPr id="3" name="Picture 2" descr="6___Posterior_Release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2708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mm) for 6 - Posterior Release.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5A: Force-Tip Linear Region Fitting: 7 - SPO</a:t>
            </a:r>
          </a:p>
        </p:txBody>
      </p:sp>
      <p:pic>
        <p:nvPicPr>
          <p:cNvPr id="3" name="Picture 2" descr="7___SPO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mm) for 7 - SPO.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5B: Linear Stiffness Results Across Interventions</a:t>
            </a:r>
          </a:p>
        </p:txBody>
      </p:sp>
      <p:pic>
        <p:nvPicPr>
          <p:cNvPr id="3" name="Picture 2" descr="all_interventions_linear_region_stiffness_mean_std_bar_by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5789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Mean ± SD from valid cycles (force-tip linear-region stiffness).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Linear Stiffness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106424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Step 6A Results: Linear-Region Force-Tip Stiffness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Rank  Intervention            median [N/mm]    mean [N/mm]   n_valid/n_cycles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   1  SPO                          8.158          7.037      6/9</a:t>
            </a:r>
          </a:p>
          <a:p>
            <a:pPr>
              <a:defRPr sz="1200">
                <a:latin typeface="Consolas"/>
              </a:defRPr>
            </a:pPr>
            <a:r>
              <a:t>   2  FUF Left                     8.158          7.851      9/9</a:t>
            </a:r>
          </a:p>
          <a:p>
            <a:pPr>
              <a:defRPr sz="1200">
                <a:latin typeface="Consolas"/>
              </a:defRPr>
            </a:pPr>
            <a:r>
              <a:t>   3  Posterior Release            7.716          8.775      10/10</a:t>
            </a:r>
          </a:p>
          <a:p>
            <a:pPr>
              <a:defRPr sz="1200">
                <a:latin typeface="Consolas"/>
              </a:defRPr>
            </a:pPr>
            <a:r>
              <a:t>   4  PUF Left                     7.170          7.450      9/9</a:t>
            </a:r>
          </a:p>
          <a:p>
            <a:pPr>
              <a:defRPr sz="1200">
                <a:latin typeface="Consolas"/>
              </a:defRPr>
            </a:pPr>
            <a:r>
              <a:t>   5  FBF                          7.086          6.495      9/9</a:t>
            </a:r>
          </a:p>
          <a:p>
            <a:pPr>
              <a:defRPr sz="1200">
                <a:latin typeface="Consolas"/>
              </a:defRPr>
            </a:pPr>
            <a:r>
              <a:t>   6  Intact Holding               4.011          5.483      8/9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6A: Moment-Theta Processing: 2 - Intact Holding Longer</a:t>
            </a:r>
          </a:p>
        </p:txBody>
      </p:sp>
      <p:pic>
        <p:nvPicPr>
          <p:cNvPr id="3" name="Picture 2" descr="2___Intact_Holding_Longer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deg) for 2 - Intact Holding Longer.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6A: Moment-Theta Processing: 3 - PUBF Left</a:t>
            </a:r>
          </a:p>
        </p:txBody>
      </p:sp>
      <p:pic>
        <p:nvPicPr>
          <p:cNvPr id="3" name="Picture 2" descr="3___PUBF_Left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deg) for 3 - PUBF Left.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6A: Moment-Theta Processing: 4 - FUF Left</a:t>
            </a:r>
          </a:p>
        </p:txBody>
      </p:sp>
      <p:pic>
        <p:nvPicPr>
          <p:cNvPr id="3" name="Picture 2" descr="4___FUF_Left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deg) for 4 - FUF Left.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6A: Moment-Theta Processing: 5 - FBF</a:t>
            </a:r>
          </a:p>
        </p:txBody>
      </p:sp>
      <p:pic>
        <p:nvPicPr>
          <p:cNvPr id="3" name="Picture 2" descr="5___FBF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deg) for 5 - FBF.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6A: Moment-Theta Processing: 6 - Posterior Release</a:t>
            </a:r>
          </a:p>
        </p:txBody>
      </p:sp>
      <p:pic>
        <p:nvPicPr>
          <p:cNvPr id="3" name="Picture 2" descr="6___Posterior_Release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2931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deg) for 6 - Posterior Release.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6A: Moment-Theta Processing: 7 - SPO</a:t>
            </a:r>
          </a:p>
        </p:txBody>
      </p:sp>
      <p:pic>
        <p:nvPicPr>
          <p:cNvPr id="3" name="Picture 2" descr="7___SPO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deg) for 7 - SPO.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6B: Rotational Stiffness Results Across Interventions</a:t>
            </a:r>
          </a:p>
        </p:txBody>
      </p:sp>
      <p:pic>
        <p:nvPicPr>
          <p:cNvPr id="3" name="Picture 2" descr="all_interventions_moment_theta_stiffness_mean_std_bar_by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5789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Mean ± SD from valid cycles (moment-theta stiffness).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Rotational Stiffness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106424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Step 6B Results: Moment-Theta Rotational Stiffness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Rank  Intervention            median [Nm/deg]   mean [Nm/deg]  n_valid/n_cycles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   1  SPO                            2.476          2.120     8/9</a:t>
            </a:r>
          </a:p>
          <a:p>
            <a:pPr>
              <a:defRPr sz="1200">
                <a:latin typeface="Consolas"/>
              </a:defRPr>
            </a:pPr>
            <a:r>
              <a:t>   2  FUF Left                       2.476          2.383     9/9</a:t>
            </a:r>
          </a:p>
          <a:p>
            <a:pPr>
              <a:defRPr sz="1200">
                <a:latin typeface="Consolas"/>
              </a:defRPr>
            </a:pPr>
            <a:r>
              <a:t>   3  Posterior Release              2.342          2.663     10/10</a:t>
            </a:r>
          </a:p>
          <a:p>
            <a:pPr>
              <a:defRPr sz="1200">
                <a:latin typeface="Consolas"/>
              </a:defRPr>
            </a:pPr>
            <a:r>
              <a:t>   4  PUF Left                       2.176          2.261     9/9</a:t>
            </a:r>
          </a:p>
          <a:p>
            <a:pPr>
              <a:defRPr sz="1200">
                <a:latin typeface="Consolas"/>
              </a:defRPr>
            </a:pPr>
            <a:r>
              <a:t>   5  FBF                            2.151          1.971     9/9</a:t>
            </a:r>
          </a:p>
          <a:p>
            <a:pPr>
              <a:defRPr sz="1200">
                <a:latin typeface="Consolas"/>
              </a:defRPr>
            </a:pPr>
            <a:r>
              <a:t>   6  Intact Holding                 1.217          1.664     8/9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Appended Update: Fit-Point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This version appends re-analysis results with explicit fit-point thresholds.</a:t>
            </a:r>
          </a:p>
          <a:p>
            <a:pPr>
              <a:defRPr sz="1900"/>
            </a:pPr>
            <a:r>
              <a:t>Displacement stiffness fitting: use only displacement &gt;= 0 mm points.</a:t>
            </a:r>
          </a:p>
          <a:p>
            <a:pPr>
              <a:defRPr sz="1900"/>
            </a:pPr>
            <a:r>
              <a:t>Rotational stiffness fitting: use only theta &gt;= 0 deg points.</a:t>
            </a:r>
          </a:p>
          <a:p>
            <a:pPr>
              <a:defRPr sz="1900"/>
            </a:pPr>
            <a:r>
              <a:t>All rankings/tables in this deck reflect these updated fit-selection rules.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Step-wise processing narrows from raw traces to quality-controlled cycles.</a:t>
            </a:r>
          </a:p>
          <a:p>
            <a:pPr>
              <a:defRPr sz="1900"/>
            </a:pPr>
            <a:r>
              <a:t>Results are reported in two complementary stiffness spaces:</a:t>
            </a:r>
          </a:p>
          <a:p>
            <a:pPr>
              <a:defRPr sz="1900"/>
            </a:pPr>
            <a:r>
              <a:t>force-tip (N/mm) and moment-theta (Nm/deg).</a:t>
            </a:r>
          </a:p>
          <a:p>
            <a:pPr>
              <a:defRPr sz="1900"/>
            </a:pPr>
            <a:r>
              <a:t>Rankings are based on median stiffness across valid cycles.</a:t>
            </a:r>
          </a:p>
          <a:p>
            <a:pPr>
              <a:defRPr sz="1900"/>
            </a:pPr>
            <a:r>
              <a:t>Fit-point constraints are displacement &gt;= 0 mm and theta &gt;= 0 deg.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