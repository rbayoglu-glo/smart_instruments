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/>
              <a:t>MTS Testing Data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Updated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/>
              <a:t>Method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Input: MTS 6DOF Book*.xlsx grouped as FE, LB, AR per intervention</a:t>
            </a:r>
          </a:p>
          <a:p>
            <a:pPr>
              <a:defRPr sz="2000"/>
            </a:pPr>
            <a:r>
              <a:rPr dirty="0"/>
              <a:t>Cycle basis: third cycle, centered avg(load/unload)</a:t>
            </a:r>
          </a:p>
          <a:p>
            <a:pPr>
              <a:defRPr sz="2000"/>
            </a:pPr>
            <a:r>
              <a:rPr dirty="0"/>
              <a:t>Model: M(theta) = C1*theta + C2*theta^2 + C3*theta^3</a:t>
            </a:r>
          </a:p>
          <a:p>
            <a:pPr>
              <a:defRPr sz="2000"/>
            </a:pPr>
            <a:r>
              <a:rPr dirty="0"/>
              <a:t>Plot orientation: angle on x-axis, moment on y-axis</a:t>
            </a:r>
          </a:p>
          <a:p>
            <a:pPr>
              <a:defRPr sz="2000"/>
            </a:pPr>
            <a:r>
              <a:rPr dirty="0"/>
              <a:t>Flexion ranking window: 1-5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MTS 1-5 Nm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39024"/>
            <a:ext cx="5484194" cy="2292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latin typeface="Consolas"/>
              </a:defRPr>
            </a:pPr>
            <a:endParaRPr lang="en-US" dirty="0"/>
          </a:p>
          <a:p>
            <a:pPr>
              <a:defRPr sz="1300">
                <a:latin typeface="Consolas"/>
              </a:defRPr>
            </a:pPr>
            <a:r>
              <a:rPr dirty="0"/>
              <a:t>MTS Flexion Ranking (1-5 Nm, centered branch)</a:t>
            </a:r>
          </a:p>
          <a:p>
            <a:pPr>
              <a:defRPr sz="1300">
                <a:latin typeface="Consolas"/>
              </a:defRPr>
            </a:pPr>
            <a:endParaRPr dirty="0"/>
          </a:p>
          <a:p>
            <a:pPr>
              <a:defRPr sz="1300">
                <a:latin typeface="Consolas"/>
              </a:defRPr>
            </a:pPr>
            <a:r>
              <a:rPr dirty="0"/>
              <a:t>Rank  Intervention          k [Nm/deg]   R2      </a:t>
            </a:r>
            <a:r>
              <a:rPr dirty="0" err="1"/>
              <a:t>n_points</a:t>
            </a:r>
            <a:endParaRPr dirty="0"/>
          </a:p>
          <a:p>
            <a:pPr>
              <a:defRPr sz="1300">
                <a:latin typeface="Consolas"/>
              </a:defRPr>
            </a:pPr>
            <a:r>
              <a:rPr dirty="0"/>
              <a:t>----------------------------------------------------------</a:t>
            </a:r>
          </a:p>
          <a:p>
            <a:pPr>
              <a:defRPr sz="1300">
                <a:latin typeface="Consolas"/>
              </a:defRPr>
            </a:pPr>
            <a:r>
              <a:rPr dirty="0"/>
              <a:t>   1  PUBF Left               0.889   0.983       124</a:t>
            </a:r>
          </a:p>
          <a:p>
            <a:pPr>
              <a:defRPr sz="1300">
                <a:latin typeface="Consolas"/>
              </a:defRPr>
            </a:pPr>
            <a:r>
              <a:rPr dirty="0"/>
              <a:t>   2  FUF Left                0.867   0.983       125</a:t>
            </a:r>
          </a:p>
          <a:p>
            <a:pPr>
              <a:defRPr sz="1300">
                <a:latin typeface="Consolas"/>
              </a:defRPr>
            </a:pPr>
            <a:r>
              <a:rPr dirty="0"/>
              <a:t>   3  Intact                  0.866   0.981       128</a:t>
            </a:r>
          </a:p>
          <a:p>
            <a:pPr>
              <a:defRPr sz="1300">
                <a:latin typeface="Consolas"/>
              </a:defRPr>
            </a:pPr>
            <a:r>
              <a:rPr dirty="0"/>
              <a:t>   4  FBF                     0.846   0.983       126</a:t>
            </a:r>
          </a:p>
          <a:p>
            <a:pPr>
              <a:defRPr sz="1300">
                <a:latin typeface="Consolas"/>
              </a:defRPr>
            </a:pPr>
            <a:r>
              <a:rPr dirty="0"/>
              <a:t>   5  Posterior Release       0.817   0.978       128</a:t>
            </a:r>
          </a:p>
          <a:p>
            <a:pPr>
              <a:defRPr sz="1300">
                <a:latin typeface="Consolas"/>
              </a:defRPr>
            </a:pPr>
            <a:r>
              <a:rPr dirty="0"/>
              <a:t>   6  SPO                     0.722   0.977       128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Intervention: Intact</a:t>
            </a:r>
          </a:p>
        </p:txBody>
      </p:sp>
      <p:pic>
        <p:nvPicPr>
          <p:cNvPr id="3" name="Picture 2" descr="Intact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Intervention: PUBF Left</a:t>
            </a:r>
          </a:p>
        </p:txBody>
      </p:sp>
      <p:pic>
        <p:nvPicPr>
          <p:cNvPr id="3" name="Picture 2" descr="PUBF_Left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9795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Intervention: FUF Left</a:t>
            </a:r>
          </a:p>
        </p:txBody>
      </p:sp>
      <p:pic>
        <p:nvPicPr>
          <p:cNvPr id="3" name="Picture 2" descr="FUF_Left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268233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Intervention: FBF</a:t>
            </a:r>
          </a:p>
        </p:txBody>
      </p:sp>
      <p:pic>
        <p:nvPicPr>
          <p:cNvPr id="3" name="Picture 2" descr="FBF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338125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Intervention: Posterior Release</a:t>
            </a:r>
          </a:p>
        </p:txBody>
      </p:sp>
      <p:pic>
        <p:nvPicPr>
          <p:cNvPr id="3" name="Picture 2" descr="Posterior_Release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3892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Intervention: SPO</a:t>
            </a:r>
          </a:p>
        </p:txBody>
      </p:sp>
      <p:pic>
        <p:nvPicPr>
          <p:cNvPr id="3" name="Picture 2" descr="SPO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11247120" cy="3106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MTS Flexion: 1-5 Nm Fit Panels</a:t>
            </a:r>
          </a:p>
        </p:txBody>
      </p:sp>
      <p:pic>
        <p:nvPicPr>
          <p:cNvPr id="3" name="Picture 2" descr="mts_flexion_1to5_linear_fi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0860"/>
            <a:ext cx="10547405" cy="50934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MTS Flexion: 1-5 Nm Stiffness Bar</a:t>
            </a:r>
          </a:p>
        </p:txBody>
      </p:sp>
      <p:pic>
        <p:nvPicPr>
          <p:cNvPr id="3" name="Picture 2" descr="mts_flexion_1to5_linear_fit_stiffnes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0293"/>
            <a:ext cx="9473979" cy="4916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177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MTS Testing Data Summary</vt:lpstr>
      <vt:lpstr>Method Snapshot</vt:lpstr>
      <vt:lpstr>MTS 1-5 Nm Stiffness Ranking</vt:lpstr>
      <vt:lpstr>Intervention: Intact</vt:lpstr>
      <vt:lpstr>Intervention: PUBF Left</vt:lpstr>
      <vt:lpstr>Intervention: FUF Left</vt:lpstr>
      <vt:lpstr>Intervention: FBF</vt:lpstr>
      <vt:lpstr>Intervention: Posterior Release</vt:lpstr>
      <vt:lpstr>Intervention: SPO</vt:lpstr>
      <vt:lpstr>MTS Flexion: 1-5 Nm Fit Panels</vt:lpstr>
      <vt:lpstr>MTS Flexion: 1-5 Nm Stiffness Bar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Riza Bayoglu</cp:lastModifiedBy>
  <cp:revision>6</cp:revision>
  <dcterms:created xsi:type="dcterms:W3CDTF">2013-01-27T09:14:16Z</dcterms:created>
  <dcterms:modified xsi:type="dcterms:W3CDTF">2026-08-19T19:26:10Z</dcterms:modified>
  <cp:category/>
</cp:coreProperties>
</file>