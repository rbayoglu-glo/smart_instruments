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b="1" sz="3200"/>
              <a:t>Spreader Stiffness: Step-by-Step Workflow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/>
            </a:pPr>
            <a:r>
              <a:t>Updated 2026-08-19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Workflow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789920" cy="5120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1. Plot raw force vs time (all cycles)</a:t>
            </a:r>
          </a:p>
          <a:p>
            <a:pPr>
              <a:defRPr sz="2000"/>
            </a:pPr>
            <a:r>
              <a:t>2. Remove preload and re-plot force vs time</a:t>
            </a:r>
          </a:p>
          <a:p>
            <a:pPr>
              <a:defRPr sz="2000"/>
            </a:pPr>
            <a:r>
              <a:t>3. Detect and mark ramp starts</a:t>
            </a:r>
          </a:p>
          <a:p>
            <a:pPr>
              <a:defRPr sz="2000"/>
            </a:pPr>
            <a:r>
              <a:t>4. Mark ineligible cycles (transition-flag rules)</a:t>
            </a:r>
          </a:p>
          <a:p>
            <a:pPr>
              <a:defRPr sz="2000"/>
            </a:pPr>
            <a:r>
              <a:t>5. Compute stiffness on force vs displacement windows</a:t>
            </a:r>
          </a:p>
          <a:p>
            <a:pPr>
              <a:defRPr sz="2000"/>
            </a:pPr>
            <a:r>
              <a:t>6. Convert to moment vs theta and report stiffness ranking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1: Raw Force vs Time</a:t>
            </a:r>
          </a:p>
        </p:txBody>
      </p:sp>
      <p:pic>
        <p:nvPicPr>
          <p:cNvPr id="3" name="Picture 2" descr="sync_check_all_interventions_sta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Raw distraction force trace with synchronized angle per intervention.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2: Force Without Preload vs Time</a:t>
            </a:r>
          </a:p>
        </p:txBody>
      </p:sp>
      <p:pic>
        <p:nvPicPr>
          <p:cNvPr id="3" name="Picture 2" descr="sync_check_all_interventions_stacked_preloadfre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108454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Preload-corrected force; dashed lines show secant force references.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3: Ramp Start Detection</a:t>
            </a:r>
          </a:p>
        </p:txBody>
      </p:sp>
      <p:pic>
        <p:nvPicPr>
          <p:cNvPr id="3" name="Picture 2" descr="spreader_ramp_start_force_across_cycles_interven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6134793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Ramp-start preload force tracked across cycles/interventions.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4: Mark Ineligible Cycles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064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Cycle eligibility summary (preload-free transition flags)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Intervention                n_cycles   eligible   ineligible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FBF  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FUF, left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PUBF, left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Posterior Release                10         10            0</a:t>
            </a:r>
          </a:p>
          <a:p>
            <a:pPr>
              <a:defRPr sz="1200">
                <a:latin typeface="Consolas"/>
              </a:defRPr>
            </a:pPr>
            <a:r>
              <a:t>SPO                               9          9            0</a:t>
            </a:r>
          </a:p>
          <a:p>
            <a:pPr>
              <a:defRPr sz="1200">
                <a:latin typeface="Consolas"/>
              </a:defRPr>
            </a:pPr>
            <a:r>
              <a:t>intact, but holding               9          9            0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In plots, transition/ineligible cycles are marked in 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5: Force vs Tip Displacement</a:t>
            </a:r>
          </a:p>
        </p:txBody>
      </p:sp>
      <p:pic>
        <p:nvPicPr>
          <p:cNvPr id="3" name="Picture 2" descr="cycles_force_vs_t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8651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Blue segment is the selected linear region used for stiffness fit.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Step 6: Moment vs Theta</a:t>
            </a:r>
          </a:p>
        </p:txBody>
      </p:sp>
      <p:pic>
        <p:nvPicPr>
          <p:cNvPr id="3" name="Picture 2" descr="cycles_moment_vs_th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822960"/>
            <a:ext cx="11247120" cy="865163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Final rotational stiffness k_rot computed from the selected linear region.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 sz="2600"/>
              <a:t>Final Spreader Stiffness Ranking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106424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nsolas"/>
              </a:defRPr>
            </a:pPr>
            <a:r>
              <a:t>Spreader stiffness ranking (after excluding ineligible cycles)</a:t>
            </a:r>
          </a:p>
          <a:p>
            <a:pPr>
              <a:defRPr sz="1200">
                <a:latin typeface="Consolas"/>
              </a:defRPr>
            </a:pPr>
          </a:p>
          <a:p>
            <a:pPr>
              <a:defRPr sz="1200">
                <a:latin typeface="Consolas"/>
              </a:defRPr>
            </a:pPr>
            <a:r>
              <a:t>Rank  Intervention                median k_sec [Nm/deg]   n_valid/n_cycles</a:t>
            </a:r>
          </a:p>
          <a:p>
            <a:pPr>
              <a:defRPr sz="1200">
                <a:latin typeface="Consolas"/>
              </a:defRPr>
            </a:pPr>
            <a:r>
              <a:t>--------------------------------------------------------------------------</a:t>
            </a:r>
          </a:p>
          <a:p>
            <a:pPr>
              <a:defRPr sz="1200">
                <a:latin typeface="Consolas"/>
              </a:defRPr>
            </a:pPr>
            <a:r>
              <a:t>   1  intact, but holding           3.210            6/9</a:t>
            </a:r>
          </a:p>
          <a:p>
            <a:pPr>
              <a:defRPr sz="1200">
                <a:latin typeface="Consolas"/>
              </a:defRPr>
            </a:pPr>
            <a:r>
              <a:t>   2  PUBF, left                    2.808            2/9</a:t>
            </a:r>
          </a:p>
          <a:p>
            <a:pPr>
              <a:defRPr sz="1200">
                <a:latin typeface="Consolas"/>
              </a:defRPr>
            </a:pPr>
            <a:r>
              <a:t>   3  FUF, left                     2.770            7/9</a:t>
            </a:r>
          </a:p>
          <a:p>
            <a:pPr>
              <a:defRPr sz="1200">
                <a:latin typeface="Consolas"/>
              </a:defRPr>
            </a:pPr>
            <a:r>
              <a:t>   4  FBF                           2.529            6/10</a:t>
            </a:r>
          </a:p>
          <a:p>
            <a:pPr>
              <a:defRPr sz="1200">
                <a:latin typeface="Consolas"/>
              </a:defRPr>
            </a:pPr>
            <a:r>
              <a:t>   5  SPO                           2.236            6/13</a:t>
            </a:r>
          </a:p>
          <a:p>
            <a:pPr>
              <a:defRPr sz="1200">
                <a:latin typeface="Consolas"/>
              </a:defRPr>
            </a:pPr>
            <a:r>
              <a:t>   6  Posterior Release             1.906            8/11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