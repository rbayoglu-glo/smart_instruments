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Stiffness: Step-by-Step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Plot raw force vs time (all cycles)</a:t>
            </a:r>
          </a:p>
          <a:p>
            <a:pPr>
              <a:defRPr sz="2000"/>
            </a:pPr>
            <a:r>
              <a:t>2. Remove preload and re-plot force vs time</a:t>
            </a:r>
          </a:p>
          <a:p>
            <a:pPr>
              <a:defRPr sz="2000"/>
            </a:pPr>
            <a:r>
              <a:t>3. Detect and mark ramp starts</a:t>
            </a:r>
          </a:p>
          <a:p>
            <a:pPr>
              <a:defRPr sz="2000"/>
            </a:pPr>
            <a:r>
              <a:t>4. Mark ineligible cycles (transition-flag rules)</a:t>
            </a:r>
          </a:p>
          <a:p>
            <a:pPr>
              <a:defRPr sz="2000"/>
            </a:pPr>
            <a:r>
              <a:t>5. Compute stiffness on force vs displacement windows</a:t>
            </a:r>
          </a:p>
          <a:p>
            <a:pPr>
              <a:defRPr sz="2000"/>
            </a:pPr>
            <a:r>
              <a:t>6. Convert to moment vs theta and report stiffness ranking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 vs Time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Raw distraction force trace with synchronized angle per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Force Without Preload vs Time</a:t>
            </a:r>
          </a:p>
        </p:txBody>
      </p:sp>
      <p:pic>
        <p:nvPicPr>
          <p:cNvPr id="3" name="Picture 2" descr="sync_check_all_interventions_stacked_preload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Preload-corrected force; dashed lines show secant force 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3: Ramp Start Detection</a:t>
            </a:r>
          </a:p>
        </p:txBody>
      </p:sp>
      <p:pic>
        <p:nvPicPr>
          <p:cNvPr id="3" name="Picture 2" descr="spreader_ramp_start_force_across_cycles_interv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6134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Ramp-start preload force tracked across cycles/interventions.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Cycle eligibility summary (preload-free transition flags)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FUF, left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PUBF, left                        9          7            2</a:t>
            </a:r>
          </a:p>
          <a:p>
            <a:pPr>
              <a:defRPr sz="1200">
                <a:latin typeface="Consolas"/>
              </a:defRPr>
            </a:pPr>
            <a:r>
              <a:t>Posterior Release  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  9          6            3</a:t>
            </a:r>
          </a:p>
          <a:p>
            <a:pPr>
              <a:defRPr sz="1200">
                <a:latin typeface="Consolas"/>
              </a:defRPr>
            </a:pPr>
            <a:r>
              <a:t>intact, but holding               9          9            0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 plots, transition/ineligible cycles are marked in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5: Force vs Tip Displacement</a:t>
            </a:r>
          </a:p>
        </p:txBody>
      </p:sp>
      <p:pic>
        <p:nvPicPr>
          <p:cNvPr id="3" name="Picture 2" descr="cycles_force_vs_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Blue segment is the selected linear region used for stiffness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6: Moment vs Theta</a:t>
            </a:r>
          </a:p>
        </p:txBody>
      </p:sp>
      <p:pic>
        <p:nvPicPr>
          <p:cNvPr id="3" name="Picture 2" descr="cycles_moment_vs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Final rotational stiffness k_rot computed from the selected linear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Final Spreader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Spreader stiffness ranking (after excluding ineligible cycles)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    median k_sec [Nm/deg]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intact, but holding           3.210            6/9</a:t>
            </a:r>
          </a:p>
          <a:p>
            <a:pPr>
              <a:defRPr sz="1200">
                <a:latin typeface="Consolas"/>
              </a:defRPr>
            </a:pPr>
            <a:r>
              <a:t>   2  PUBF, left                    2.808            2/9</a:t>
            </a:r>
          </a:p>
          <a:p>
            <a:pPr>
              <a:defRPr sz="1200">
                <a:latin typeface="Consolas"/>
              </a:defRPr>
            </a:pPr>
            <a:r>
              <a:t>   3  FUF, left                     2.770            7/9</a:t>
            </a:r>
          </a:p>
          <a:p>
            <a:pPr>
              <a:defRPr sz="1200">
                <a:latin typeface="Consolas"/>
              </a:defRPr>
            </a:pPr>
            <a:r>
              <a:t>   4  FBF                           2.529            6/10</a:t>
            </a:r>
          </a:p>
          <a:p>
            <a:pPr>
              <a:defRPr sz="1200">
                <a:latin typeface="Consolas"/>
              </a:defRPr>
            </a:pPr>
            <a:r>
              <a:t>   5  SPO                           2.236            6/13</a:t>
            </a:r>
          </a:p>
          <a:p>
            <a:pPr>
              <a:defRPr sz="1200">
                <a:latin typeface="Consolas"/>
              </a:defRPr>
            </a:pPr>
            <a:r>
              <a:t>   6  Posterior Release             1.906            8/11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