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60" r:id="rId5"/>
    <p:sldId id="261" r:id="rId6"/>
    <p:sldId id="262" r:id="rId7"/>
    <p:sldId id="263" r:id="rId8"/>
    <p:sldId id="264" r:id="rId9"/>
    <p:sldId id="267" r:id="rId10"/>
    <p:sldId id="268" r:id="rId11"/>
    <p:sldId id="269" r:id="rId12"/>
    <p:sldId id="272" r:id="rId13"/>
    <p:sldId id="319" r:id="rId14"/>
    <p:sldId id="318" r:id="rId15"/>
    <p:sldId id="320" r:id="rId16"/>
    <p:sldId id="273" r:id="rId17"/>
    <p:sldId id="274" r:id="rId18"/>
    <p:sldId id="294" r:id="rId19"/>
    <p:sldId id="258" r:id="rId20"/>
    <p:sldId id="295" r:id="rId21"/>
    <p:sldId id="296" r:id="rId22"/>
    <p:sldId id="297" r:id="rId23"/>
    <p:sldId id="298" r:id="rId24"/>
    <p:sldId id="299" r:id="rId25"/>
    <p:sldId id="300" r:id="rId26"/>
    <p:sldId id="301" r:id="rId27"/>
    <p:sldId id="302" r:id="rId28"/>
    <p:sldId id="303" r:id="rId29"/>
    <p:sldId id="304" r:id="rId30"/>
    <p:sldId id="305" r:id="rId31"/>
    <p:sldId id="306" r:id="rId32"/>
    <p:sldId id="307" r:id="rId33"/>
    <p:sldId id="308" r:id="rId34"/>
    <p:sldId id="309" r:id="rId35"/>
    <p:sldId id="310" r:id="rId36"/>
    <p:sldId id="311" r:id="rId37"/>
    <p:sldId id="312" r:id="rId38"/>
    <p:sldId id="313" r:id="rId39"/>
    <p:sldId id="314" r:id="rId40"/>
    <p:sldId id="315" r:id="rId41"/>
    <p:sldId id="316" r:id="rId42"/>
    <p:sldId id="275" r:id="rId43"/>
    <p:sldId id="322" r:id="rId44"/>
    <p:sldId id="324" r:id="rId45"/>
    <p:sldId id="323" r:id="rId46"/>
    <p:sldId id="276" r:id="rId47"/>
    <p:sldId id="277" r:id="rId48"/>
    <p:sldId id="321" r:id="rId49"/>
    <p:sldId id="278" r:id="rId50"/>
    <p:sldId id="279" r:id="rId51"/>
    <p:sldId id="280" r:id="rId52"/>
    <p:sldId id="281" r:id="rId53"/>
    <p:sldId id="325" r:id="rId54"/>
    <p:sldId id="285" r:id="rId55"/>
    <p:sldId id="283" r:id="rId56"/>
    <p:sldId id="284" r:id="rId57"/>
    <p:sldId id="290" r:id="rId58"/>
    <p:sldId id="291" r:id="rId59"/>
    <p:sldId id="282" r:id="rId60"/>
    <p:sldId id="292" r:id="rId61"/>
    <p:sldId id="286" r:id="rId62"/>
    <p:sldId id="287" r:id="rId63"/>
    <p:sldId id="288" r:id="rId64"/>
    <p:sldId id="289" r:id="rId65"/>
    <p:sldId id="293" r:id="rId66"/>
    <p:sldId id="326" r:id="rId67"/>
    <p:sldId id="327" r:id="rId68"/>
    <p:sldId id="328" r:id="rId69"/>
    <p:sldId id="329" r:id="rId70"/>
    <p:sldId id="330" r:id="rId71"/>
    <p:sldId id="331" r:id="rId72"/>
    <p:sldId id="332" r:id="rId73"/>
    <p:sldId id="333" r:id="rId74"/>
    <p:sldId id="334" r:id="rId75"/>
    <p:sldId id="335" r:id="rId76"/>
    <p:sldId id="336" r:id="rId77"/>
    <p:sldId id="337" r:id="rId7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66" autoAdjust="0"/>
    <p:restoredTop sz="94660"/>
  </p:normalViewPr>
  <p:slideViewPr>
    <p:cSldViewPr snapToGrid="0" snapToObjects="1">
      <p:cViewPr varScale="1">
        <p:scale>
          <a:sx n="116" d="100"/>
          <a:sy n="116" d="100"/>
        </p:scale>
        <p:origin x="108" y="1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6.xml"/><Relationship Id="rId4" Type="http://schemas.openxmlformats.org/officeDocument/2006/relationships/image" Target="../media/image43.png"/></Relationships>
</file>

<file path=ppt/slides/_rels/slide5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6.xml"/><Relationship Id="rId4" Type="http://schemas.openxmlformats.org/officeDocument/2006/relationships/image" Target="../media/image48.png"/></Relationships>
</file>

<file path=ppt/slides/_rels/slide5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3200" b="1" dirty="0"/>
              <a:t>MTS Testing Data Summary</a:t>
            </a:r>
          </a:p>
        </p:txBody>
      </p:sp>
      <p:sp>
        <p:nvSpPr>
          <p:cNvPr id="3" name="Subtitle 2"/>
          <p:cNvSpPr>
            <a:spLocks noGrp="1"/>
          </p:cNvSpPr>
          <p:nvPr>
            <p:ph type="subTitle" idx="1"/>
          </p:nvPr>
        </p:nvSpPr>
        <p:spPr/>
        <p:txBody>
          <a:bodyPr/>
          <a:lstStyle/>
          <a:p>
            <a:pPr>
              <a:defRPr sz="1800"/>
            </a:pPr>
            <a:r>
              <a:rPr dirty="0"/>
              <a:t>Updated 2026-08-19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dirty="0"/>
              <a:t>Method Snapshot</a:t>
            </a:r>
          </a:p>
        </p:txBody>
      </p:sp>
      <p:sp>
        <p:nvSpPr>
          <p:cNvPr id="3" name="TextBox 2"/>
          <p:cNvSpPr txBox="1"/>
          <p:nvPr/>
        </p:nvSpPr>
        <p:spPr>
          <a:xfrm>
            <a:off x="731520" y="1371600"/>
            <a:ext cx="7157665" cy="1323439"/>
          </a:xfrm>
          <a:prstGeom prst="rect">
            <a:avLst/>
          </a:prstGeom>
          <a:noFill/>
        </p:spPr>
        <p:txBody>
          <a:bodyPr wrap="none">
            <a:spAutoFit/>
          </a:bodyPr>
          <a:lstStyle/>
          <a:p>
            <a:pPr>
              <a:defRPr sz="2000"/>
            </a:pPr>
            <a:r>
              <a:rPr dirty="0"/>
              <a:t>Input: MTS 6DOF Book*.xlsx grouped as FE, LB, AR per intervention</a:t>
            </a:r>
          </a:p>
          <a:p>
            <a:pPr>
              <a:defRPr sz="2000"/>
            </a:pPr>
            <a:r>
              <a:rPr dirty="0"/>
              <a:t>Cycle basis: third cycle, centered avg(load/unload)</a:t>
            </a:r>
          </a:p>
          <a:p>
            <a:pPr>
              <a:defRPr sz="2000"/>
            </a:pPr>
            <a:r>
              <a:rPr dirty="0"/>
              <a:t>Model: M(theta) = C1*theta + C2*theta^2 + C3*theta^3</a:t>
            </a:r>
          </a:p>
          <a:p>
            <a:pPr>
              <a:defRPr sz="2000"/>
            </a:pPr>
            <a:r>
              <a:rPr dirty="0"/>
              <a:t>Plot orientation: angle on x-axis, moment on y-axis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dirty="0"/>
              <a:t>Intact</a:t>
            </a:r>
          </a:p>
        </p:txBody>
      </p:sp>
      <p:pic>
        <p:nvPicPr>
          <p:cNvPr id="3" name="Picture 2" descr="Intact_stiffness.png"/>
          <p:cNvPicPr>
            <a:picLocks noChangeAspect="1"/>
          </p:cNvPicPr>
          <p:nvPr/>
        </p:nvPicPr>
        <p:blipFill>
          <a:blip r:embed="rId2"/>
          <a:stretch>
            <a:fillRect/>
          </a:stretch>
        </p:blipFill>
        <p:spPr>
          <a:xfrm>
            <a:off x="457200" y="1417638"/>
            <a:ext cx="11247120" cy="310662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dirty="0"/>
              <a:t>Intervention: PUF Left</a:t>
            </a:r>
          </a:p>
        </p:txBody>
      </p:sp>
      <p:pic>
        <p:nvPicPr>
          <p:cNvPr id="3" name="Picture 2" descr="PUBF_Left_stiffness.png"/>
          <p:cNvPicPr>
            <a:picLocks noChangeAspect="1"/>
          </p:cNvPicPr>
          <p:nvPr/>
        </p:nvPicPr>
        <p:blipFill>
          <a:blip r:embed="rId2"/>
          <a:stretch>
            <a:fillRect/>
          </a:stretch>
        </p:blipFill>
        <p:spPr>
          <a:xfrm>
            <a:off x="457200" y="1339795"/>
            <a:ext cx="11247120" cy="310662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Intervention: FUF Left</a:t>
            </a:r>
          </a:p>
        </p:txBody>
      </p:sp>
      <p:pic>
        <p:nvPicPr>
          <p:cNvPr id="3" name="Picture 2" descr="FUF_Left_stiffness.png"/>
          <p:cNvPicPr>
            <a:picLocks noChangeAspect="1"/>
          </p:cNvPicPr>
          <p:nvPr/>
        </p:nvPicPr>
        <p:blipFill>
          <a:blip r:embed="rId2"/>
          <a:stretch>
            <a:fillRect/>
          </a:stretch>
        </p:blipFill>
        <p:spPr>
          <a:xfrm>
            <a:off x="487680" y="1268233"/>
            <a:ext cx="11247120" cy="310662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Intervention: FBF</a:t>
            </a:r>
          </a:p>
        </p:txBody>
      </p:sp>
      <p:pic>
        <p:nvPicPr>
          <p:cNvPr id="3" name="Picture 2" descr="FBF_stiffness.png"/>
          <p:cNvPicPr>
            <a:picLocks noChangeAspect="1"/>
          </p:cNvPicPr>
          <p:nvPr/>
        </p:nvPicPr>
        <p:blipFill>
          <a:blip r:embed="rId2"/>
          <a:stretch>
            <a:fillRect/>
          </a:stretch>
        </p:blipFill>
        <p:spPr>
          <a:xfrm>
            <a:off x="472440" y="1338125"/>
            <a:ext cx="11247120" cy="310662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Intervention: Posterior Release</a:t>
            </a:r>
          </a:p>
        </p:txBody>
      </p:sp>
      <p:pic>
        <p:nvPicPr>
          <p:cNvPr id="3" name="Picture 2" descr="Posterior_Release_stiffness.png"/>
          <p:cNvPicPr>
            <a:picLocks noChangeAspect="1"/>
          </p:cNvPicPr>
          <p:nvPr/>
        </p:nvPicPr>
        <p:blipFill>
          <a:blip r:embed="rId2"/>
          <a:stretch>
            <a:fillRect/>
          </a:stretch>
        </p:blipFill>
        <p:spPr>
          <a:xfrm>
            <a:off x="457200" y="1323892"/>
            <a:ext cx="11247120" cy="31066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Intervention: SPO</a:t>
            </a:r>
          </a:p>
        </p:txBody>
      </p:sp>
      <p:pic>
        <p:nvPicPr>
          <p:cNvPr id="3" name="Picture 2" descr="SPO_stiffness.png"/>
          <p:cNvPicPr>
            <a:picLocks noChangeAspect="1"/>
          </p:cNvPicPr>
          <p:nvPr/>
        </p:nvPicPr>
        <p:blipFill>
          <a:blip r:embed="rId2"/>
          <a:stretch>
            <a:fillRect/>
          </a:stretch>
        </p:blipFill>
        <p:spPr>
          <a:xfrm>
            <a:off x="457200" y="1417638"/>
            <a:ext cx="11247120" cy="310662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33414-8968-3D87-C3FC-0FAD339F3C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9A3EAB-3FF4-7A89-D15F-D3E60094269F}"/>
              </a:ext>
            </a:extLst>
          </p:cNvPr>
          <p:cNvSpPr>
            <a:spLocks noGrp="1"/>
          </p:cNvSpPr>
          <p:nvPr>
            <p:ph type="title"/>
          </p:nvPr>
        </p:nvSpPr>
        <p:spPr>
          <a:xfrm>
            <a:off x="457200" y="227566"/>
            <a:ext cx="8229600" cy="1143000"/>
          </a:xfrm>
        </p:spPr>
        <p:txBody>
          <a:bodyPr/>
          <a:lstStyle/>
          <a:p>
            <a:r>
              <a:rPr lang="en-US" sz="2600" b="1" dirty="0"/>
              <a:t>Flexion/Extension – All </a:t>
            </a:r>
            <a:r>
              <a:rPr sz="2600" b="1" dirty="0"/>
              <a:t>Intervention</a:t>
            </a:r>
            <a:r>
              <a:rPr lang="en-US" sz="2600" b="1" dirty="0"/>
              <a:t>s</a:t>
            </a:r>
            <a:endParaRPr sz="2600" b="1" dirty="0"/>
          </a:p>
        </p:txBody>
      </p:sp>
      <p:pic>
        <p:nvPicPr>
          <p:cNvPr id="5" name="Picture 4">
            <a:extLst>
              <a:ext uri="{FF2B5EF4-FFF2-40B4-BE49-F238E27FC236}">
                <a16:creationId xmlns:a16="http://schemas.microsoft.com/office/drawing/2014/main" id="{F5AB2047-B4F6-41ED-119C-1EF8A3810EA1}"/>
              </a:ext>
            </a:extLst>
          </p:cNvPr>
          <p:cNvPicPr>
            <a:picLocks noChangeAspect="1"/>
          </p:cNvPicPr>
          <p:nvPr/>
        </p:nvPicPr>
        <p:blipFill>
          <a:blip r:embed="rId2"/>
          <a:stretch>
            <a:fillRect/>
          </a:stretch>
        </p:blipFill>
        <p:spPr>
          <a:xfrm>
            <a:off x="457200" y="1346076"/>
            <a:ext cx="4694453" cy="3489013"/>
          </a:xfrm>
          <a:prstGeom prst="rect">
            <a:avLst/>
          </a:prstGeom>
        </p:spPr>
      </p:pic>
      <p:cxnSp>
        <p:nvCxnSpPr>
          <p:cNvPr id="4" name="Straight Arrow Connector 3">
            <a:extLst>
              <a:ext uri="{FF2B5EF4-FFF2-40B4-BE49-F238E27FC236}">
                <a16:creationId xmlns:a16="http://schemas.microsoft.com/office/drawing/2014/main" id="{F30E1CBE-81C0-6E1F-2511-D04C8A104B77}"/>
              </a:ext>
            </a:extLst>
          </p:cNvPr>
          <p:cNvCxnSpPr>
            <a:cxnSpLocks/>
          </p:cNvCxnSpPr>
          <p:nvPr/>
        </p:nvCxnSpPr>
        <p:spPr>
          <a:xfrm flipV="1">
            <a:off x="1486894" y="3260035"/>
            <a:ext cx="580447" cy="167772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6" name="TextBox 5">
            <a:extLst>
              <a:ext uri="{FF2B5EF4-FFF2-40B4-BE49-F238E27FC236}">
                <a16:creationId xmlns:a16="http://schemas.microsoft.com/office/drawing/2014/main" id="{5BB85B3B-A8B2-8334-0F1C-D4D2DFC12F9B}"/>
              </a:ext>
            </a:extLst>
          </p:cNvPr>
          <p:cNvSpPr txBox="1"/>
          <p:nvPr/>
        </p:nvSpPr>
        <p:spPr>
          <a:xfrm>
            <a:off x="344994" y="5090246"/>
            <a:ext cx="2864246"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dirty="0"/>
              <a:t>similar stiffness up to ~8 deg</a:t>
            </a:r>
          </a:p>
        </p:txBody>
      </p:sp>
      <p:sp>
        <p:nvSpPr>
          <p:cNvPr id="9" name="TextBox 8">
            <a:extLst>
              <a:ext uri="{FF2B5EF4-FFF2-40B4-BE49-F238E27FC236}">
                <a16:creationId xmlns:a16="http://schemas.microsoft.com/office/drawing/2014/main" id="{09266550-413E-DE75-DC3C-38FD488AAB80}"/>
              </a:ext>
            </a:extLst>
          </p:cNvPr>
          <p:cNvSpPr txBox="1"/>
          <p:nvPr/>
        </p:nvSpPr>
        <p:spPr>
          <a:xfrm>
            <a:off x="5272195" y="1905762"/>
            <a:ext cx="6662713" cy="923330"/>
          </a:xfrm>
          <a:prstGeom prst="rect">
            <a:avLst/>
          </a:prstGeom>
          <a:noFill/>
        </p:spPr>
        <p:txBody>
          <a:bodyPr wrap="square" rtlCol="0">
            <a:spAutoFit/>
          </a:bodyPr>
          <a:lstStyle/>
          <a:p>
            <a:pPr marL="285750" indent="-285750">
              <a:buFont typeface="Arial" panose="020B0604020202020204" pitchFamily="34" charset="0"/>
              <a:buChar char="•"/>
            </a:pPr>
            <a:r>
              <a:rPr lang="en-US" dirty="0"/>
              <a:t>PLL release and SPO significantly decreased extension stiffness </a:t>
            </a:r>
          </a:p>
          <a:p>
            <a:pPr marL="285750" indent="-285750">
              <a:buFont typeface="Arial" panose="020B0604020202020204" pitchFamily="34" charset="0"/>
              <a:buChar char="•"/>
            </a:pPr>
            <a:r>
              <a:rPr lang="en-US" dirty="0"/>
              <a:t>Facetectomy decreased it as well but to a lesser extent</a:t>
            </a:r>
          </a:p>
          <a:p>
            <a:pPr marL="285750" indent="-285750">
              <a:buFont typeface="Arial" panose="020B0604020202020204" pitchFamily="34" charset="0"/>
              <a:buChar char="•"/>
            </a:pPr>
            <a:r>
              <a:rPr lang="en-US" dirty="0"/>
              <a:t>Continuous loss of stability with increasing bony/tissue resections</a:t>
            </a:r>
          </a:p>
        </p:txBody>
      </p:sp>
      <p:sp>
        <p:nvSpPr>
          <p:cNvPr id="16" name="TextBox 15">
            <a:extLst>
              <a:ext uri="{FF2B5EF4-FFF2-40B4-BE49-F238E27FC236}">
                <a16:creationId xmlns:a16="http://schemas.microsoft.com/office/drawing/2014/main" id="{30841496-2D4F-06E0-310F-24BECA7D863E}"/>
              </a:ext>
            </a:extLst>
          </p:cNvPr>
          <p:cNvSpPr txBox="1"/>
          <p:nvPr/>
        </p:nvSpPr>
        <p:spPr>
          <a:xfrm>
            <a:off x="2067341" y="4170509"/>
            <a:ext cx="681824" cy="27699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t>Flexion</a:t>
            </a:r>
          </a:p>
        </p:txBody>
      </p:sp>
      <p:sp>
        <p:nvSpPr>
          <p:cNvPr id="18" name="TextBox 17">
            <a:extLst>
              <a:ext uri="{FF2B5EF4-FFF2-40B4-BE49-F238E27FC236}">
                <a16:creationId xmlns:a16="http://schemas.microsoft.com/office/drawing/2014/main" id="{A8055E10-3A3A-900A-577B-DBC86BD0E88C}"/>
              </a:ext>
            </a:extLst>
          </p:cNvPr>
          <p:cNvSpPr txBox="1"/>
          <p:nvPr/>
        </p:nvSpPr>
        <p:spPr>
          <a:xfrm>
            <a:off x="4283433" y="2631868"/>
            <a:ext cx="789499" cy="27699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t>Extension</a:t>
            </a:r>
          </a:p>
        </p:txBody>
      </p:sp>
      <p:sp>
        <p:nvSpPr>
          <p:cNvPr id="8" name="TextBox 7">
            <a:extLst>
              <a:ext uri="{FF2B5EF4-FFF2-40B4-BE49-F238E27FC236}">
                <a16:creationId xmlns:a16="http://schemas.microsoft.com/office/drawing/2014/main" id="{A01CB60E-BC30-9B8E-5B07-927DE817EAC1}"/>
              </a:ext>
            </a:extLst>
          </p:cNvPr>
          <p:cNvSpPr txBox="1"/>
          <p:nvPr/>
        </p:nvSpPr>
        <p:spPr>
          <a:xfrm>
            <a:off x="5272194" y="3441111"/>
            <a:ext cx="6551395" cy="646331"/>
          </a:xfrm>
          <a:prstGeom prst="rect">
            <a:avLst/>
          </a:prstGeom>
          <a:noFill/>
        </p:spPr>
        <p:txBody>
          <a:bodyPr wrap="square">
            <a:spAutoFit/>
          </a:bodyPr>
          <a:lstStyle/>
          <a:p>
            <a:pPr marL="285750" indent="-285750">
              <a:buFont typeface="Arial" panose="020B0604020202020204" pitchFamily="34" charset="0"/>
              <a:buChar char="•"/>
            </a:pPr>
            <a:r>
              <a:rPr lang="en-US" dirty="0"/>
              <a:t>For all interventions, stiffness</a:t>
            </a:r>
            <a:r>
              <a:rPr lang="en-US" sz="1800" dirty="0"/>
              <a:t> is unchanged until around 8 deg</a:t>
            </a:r>
            <a:endParaRPr lang="en-US" dirty="0"/>
          </a:p>
          <a:p>
            <a:pPr marL="285750" indent="-285750">
              <a:buFont typeface="Arial" panose="020B0604020202020204" pitchFamily="34" charset="0"/>
              <a:buChar char="•"/>
            </a:pPr>
            <a:r>
              <a:rPr lang="en-US" sz="1800" dirty="0"/>
              <a:t>Facetectomy lowers stiffness afterwards                      </a:t>
            </a:r>
          </a:p>
        </p:txBody>
      </p:sp>
      <p:sp>
        <p:nvSpPr>
          <p:cNvPr id="11" name="TextBox 10">
            <a:extLst>
              <a:ext uri="{FF2B5EF4-FFF2-40B4-BE49-F238E27FC236}">
                <a16:creationId xmlns:a16="http://schemas.microsoft.com/office/drawing/2014/main" id="{DDA907FB-03D7-9E43-08C9-D3B993CB7C63}"/>
              </a:ext>
            </a:extLst>
          </p:cNvPr>
          <p:cNvSpPr txBox="1"/>
          <p:nvPr/>
        </p:nvSpPr>
        <p:spPr>
          <a:xfrm>
            <a:off x="5272195" y="1510672"/>
            <a:ext cx="1433781" cy="369332"/>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a:spAutoFit/>
          </a:bodyPr>
          <a:lstStyle/>
          <a:p>
            <a:r>
              <a:rPr lang="en-US" b="1" dirty="0"/>
              <a:t>Extension</a:t>
            </a:r>
          </a:p>
        </p:txBody>
      </p:sp>
      <p:sp>
        <p:nvSpPr>
          <p:cNvPr id="14" name="TextBox 13">
            <a:extLst>
              <a:ext uri="{FF2B5EF4-FFF2-40B4-BE49-F238E27FC236}">
                <a16:creationId xmlns:a16="http://schemas.microsoft.com/office/drawing/2014/main" id="{4E4DD1D3-FB71-4C30-07E6-CCFF0F18F07B}"/>
              </a:ext>
            </a:extLst>
          </p:cNvPr>
          <p:cNvSpPr txBox="1"/>
          <p:nvPr/>
        </p:nvSpPr>
        <p:spPr>
          <a:xfrm>
            <a:off x="5272195" y="3084301"/>
            <a:ext cx="1433781" cy="369332"/>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a:spAutoFit/>
          </a:bodyPr>
          <a:lstStyle/>
          <a:p>
            <a:r>
              <a:rPr lang="en-US" b="1" dirty="0"/>
              <a:t>Flexion</a:t>
            </a:r>
          </a:p>
        </p:txBody>
      </p:sp>
    </p:spTree>
    <p:extLst>
      <p:ext uri="{BB962C8B-B14F-4D97-AF65-F5344CB8AC3E}">
        <p14:creationId xmlns:p14="http://schemas.microsoft.com/office/powerpoint/2010/main" val="2079731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F25F2-F5C0-D23B-E1D7-DBE8BD851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5E906-B3B1-A058-A29B-BD32E155928D}"/>
              </a:ext>
            </a:extLst>
          </p:cNvPr>
          <p:cNvSpPr>
            <a:spLocks noGrp="1"/>
          </p:cNvSpPr>
          <p:nvPr>
            <p:ph type="title"/>
          </p:nvPr>
        </p:nvSpPr>
        <p:spPr/>
        <p:txBody>
          <a:bodyPr/>
          <a:lstStyle/>
          <a:p>
            <a:r>
              <a:rPr lang="en-US" sz="2600" b="1" dirty="0"/>
              <a:t>Lateral Bending – All </a:t>
            </a:r>
            <a:r>
              <a:rPr sz="2600" b="1" dirty="0"/>
              <a:t>Intervention</a:t>
            </a:r>
            <a:r>
              <a:rPr lang="en-US" sz="2600" b="1" dirty="0"/>
              <a:t>s</a:t>
            </a:r>
            <a:endParaRPr sz="2600" b="1" dirty="0"/>
          </a:p>
        </p:txBody>
      </p:sp>
      <p:pic>
        <p:nvPicPr>
          <p:cNvPr id="4" name="Picture 3">
            <a:extLst>
              <a:ext uri="{FF2B5EF4-FFF2-40B4-BE49-F238E27FC236}">
                <a16:creationId xmlns:a16="http://schemas.microsoft.com/office/drawing/2014/main" id="{870879B1-4D97-B89E-ABCD-FEF7E772D6F7}"/>
              </a:ext>
            </a:extLst>
          </p:cNvPr>
          <p:cNvPicPr>
            <a:picLocks noChangeAspect="1"/>
          </p:cNvPicPr>
          <p:nvPr/>
        </p:nvPicPr>
        <p:blipFill>
          <a:blip r:embed="rId2"/>
          <a:stretch>
            <a:fillRect/>
          </a:stretch>
        </p:blipFill>
        <p:spPr>
          <a:xfrm>
            <a:off x="1474305" y="1417638"/>
            <a:ext cx="6323496" cy="4691626"/>
          </a:xfrm>
          <a:prstGeom prst="rect">
            <a:avLst/>
          </a:prstGeom>
        </p:spPr>
      </p:pic>
      <p:sp>
        <p:nvSpPr>
          <p:cNvPr id="6" name="TextBox 5">
            <a:extLst>
              <a:ext uri="{FF2B5EF4-FFF2-40B4-BE49-F238E27FC236}">
                <a16:creationId xmlns:a16="http://schemas.microsoft.com/office/drawing/2014/main" id="{F1D1D269-8915-F4B2-E7E0-608E642AC98A}"/>
              </a:ext>
            </a:extLst>
          </p:cNvPr>
          <p:cNvSpPr txBox="1"/>
          <p:nvPr/>
        </p:nvSpPr>
        <p:spPr>
          <a:xfrm>
            <a:off x="7122050" y="3343402"/>
            <a:ext cx="455544" cy="27699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t>Left</a:t>
            </a:r>
          </a:p>
        </p:txBody>
      </p:sp>
      <p:sp>
        <p:nvSpPr>
          <p:cNvPr id="8" name="TextBox 7">
            <a:extLst>
              <a:ext uri="{FF2B5EF4-FFF2-40B4-BE49-F238E27FC236}">
                <a16:creationId xmlns:a16="http://schemas.microsoft.com/office/drawing/2014/main" id="{5E3ED23E-BC0F-3706-1711-5CAD18E83017}"/>
              </a:ext>
            </a:extLst>
          </p:cNvPr>
          <p:cNvSpPr txBox="1"/>
          <p:nvPr/>
        </p:nvSpPr>
        <p:spPr>
          <a:xfrm>
            <a:off x="4094371" y="5389430"/>
            <a:ext cx="541682" cy="27699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t>Right</a:t>
            </a:r>
          </a:p>
        </p:txBody>
      </p:sp>
    </p:spTree>
    <p:extLst>
      <p:ext uri="{BB962C8B-B14F-4D97-AF65-F5344CB8AC3E}">
        <p14:creationId xmlns:p14="http://schemas.microsoft.com/office/powerpoint/2010/main" val="22541011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CB0CC-77DB-E8A9-E320-593B0B6E4A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FFC431-2484-92C1-F355-52E0539C4371}"/>
              </a:ext>
            </a:extLst>
          </p:cNvPr>
          <p:cNvSpPr>
            <a:spLocks noGrp="1"/>
          </p:cNvSpPr>
          <p:nvPr>
            <p:ph type="title"/>
          </p:nvPr>
        </p:nvSpPr>
        <p:spPr/>
        <p:txBody>
          <a:bodyPr/>
          <a:lstStyle/>
          <a:p>
            <a:r>
              <a:rPr lang="en-US" sz="2600" b="1" dirty="0"/>
              <a:t>Axial Rotation – All </a:t>
            </a:r>
            <a:r>
              <a:rPr sz="2600" b="1" dirty="0"/>
              <a:t>Intervention</a:t>
            </a:r>
            <a:r>
              <a:rPr lang="en-US" sz="2600" b="1" dirty="0"/>
              <a:t>s</a:t>
            </a:r>
            <a:endParaRPr sz="2600" b="1" dirty="0"/>
          </a:p>
        </p:txBody>
      </p:sp>
      <p:pic>
        <p:nvPicPr>
          <p:cNvPr id="4" name="Picture 3">
            <a:extLst>
              <a:ext uri="{FF2B5EF4-FFF2-40B4-BE49-F238E27FC236}">
                <a16:creationId xmlns:a16="http://schemas.microsoft.com/office/drawing/2014/main" id="{9A9E27D0-C3CC-9DEC-D36E-3CED86DECBEC}"/>
              </a:ext>
            </a:extLst>
          </p:cNvPr>
          <p:cNvPicPr>
            <a:picLocks noChangeAspect="1"/>
          </p:cNvPicPr>
          <p:nvPr/>
        </p:nvPicPr>
        <p:blipFill>
          <a:blip r:embed="rId2"/>
          <a:stretch>
            <a:fillRect/>
          </a:stretch>
        </p:blipFill>
        <p:spPr>
          <a:xfrm>
            <a:off x="1063756" y="1417638"/>
            <a:ext cx="6594344" cy="4874807"/>
          </a:xfrm>
          <a:prstGeom prst="rect">
            <a:avLst/>
          </a:prstGeom>
        </p:spPr>
      </p:pic>
      <p:sp>
        <p:nvSpPr>
          <p:cNvPr id="6" name="TextBox 5">
            <a:extLst>
              <a:ext uri="{FF2B5EF4-FFF2-40B4-BE49-F238E27FC236}">
                <a16:creationId xmlns:a16="http://schemas.microsoft.com/office/drawing/2014/main" id="{41A49559-00D1-5323-FEC1-1F9D56F3F781}"/>
              </a:ext>
            </a:extLst>
          </p:cNvPr>
          <p:cNvSpPr txBox="1"/>
          <p:nvPr/>
        </p:nvSpPr>
        <p:spPr>
          <a:xfrm>
            <a:off x="7067716" y="3433727"/>
            <a:ext cx="455544" cy="27699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t>Left</a:t>
            </a:r>
          </a:p>
        </p:txBody>
      </p:sp>
      <p:sp>
        <p:nvSpPr>
          <p:cNvPr id="8" name="TextBox 7">
            <a:extLst>
              <a:ext uri="{FF2B5EF4-FFF2-40B4-BE49-F238E27FC236}">
                <a16:creationId xmlns:a16="http://schemas.microsoft.com/office/drawing/2014/main" id="{2EC66D26-35B4-F06D-BF56-AAE9157E68C6}"/>
              </a:ext>
            </a:extLst>
          </p:cNvPr>
          <p:cNvSpPr txBox="1"/>
          <p:nvPr/>
        </p:nvSpPr>
        <p:spPr>
          <a:xfrm>
            <a:off x="3316025" y="5540160"/>
            <a:ext cx="541682" cy="27699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t>Right</a:t>
            </a:r>
          </a:p>
        </p:txBody>
      </p:sp>
    </p:spTree>
    <p:extLst>
      <p:ext uri="{BB962C8B-B14F-4D97-AF65-F5344CB8AC3E}">
        <p14:creationId xmlns:p14="http://schemas.microsoft.com/office/powerpoint/2010/main" val="450097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04C09-5CCE-B0BB-C3EB-C195D735EF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90E448-FDC7-F1E1-CBDF-3F6ECA92BF58}"/>
              </a:ext>
            </a:extLst>
          </p:cNvPr>
          <p:cNvSpPr>
            <a:spLocks noGrp="1"/>
          </p:cNvSpPr>
          <p:nvPr>
            <p:ph type="title"/>
          </p:nvPr>
        </p:nvSpPr>
        <p:spPr/>
        <p:txBody>
          <a:bodyPr/>
          <a:lstStyle/>
          <a:p>
            <a:r>
              <a:rPr sz="2600" b="1" dirty="0"/>
              <a:t>MTS Flexion: </a:t>
            </a:r>
            <a:r>
              <a:rPr lang="en-US" sz="2600" b="1" dirty="0"/>
              <a:t>Comparison of Different Stiffness Metrics</a:t>
            </a:r>
            <a:endParaRPr sz="2600" b="1" dirty="0"/>
          </a:p>
        </p:txBody>
      </p:sp>
      <p:pic>
        <p:nvPicPr>
          <p:cNvPr id="7" name="Picture 6">
            <a:extLst>
              <a:ext uri="{FF2B5EF4-FFF2-40B4-BE49-F238E27FC236}">
                <a16:creationId xmlns:a16="http://schemas.microsoft.com/office/drawing/2014/main" id="{184ACF28-3278-7FD9-37D0-2D3706B97523}"/>
              </a:ext>
            </a:extLst>
          </p:cNvPr>
          <p:cNvPicPr>
            <a:picLocks noChangeAspect="1"/>
          </p:cNvPicPr>
          <p:nvPr/>
        </p:nvPicPr>
        <p:blipFill>
          <a:blip r:embed="rId2"/>
          <a:stretch>
            <a:fillRect/>
          </a:stretch>
        </p:blipFill>
        <p:spPr>
          <a:xfrm>
            <a:off x="457200" y="1417638"/>
            <a:ext cx="4300753" cy="3196407"/>
          </a:xfrm>
          <a:prstGeom prst="rect">
            <a:avLst/>
          </a:prstGeom>
        </p:spPr>
      </p:pic>
      <p:sp>
        <p:nvSpPr>
          <p:cNvPr id="4" name="TextBox 3">
            <a:extLst>
              <a:ext uri="{FF2B5EF4-FFF2-40B4-BE49-F238E27FC236}">
                <a16:creationId xmlns:a16="http://schemas.microsoft.com/office/drawing/2014/main" id="{C6AE1BC5-CE75-58E6-B24F-394B3261CFED}"/>
              </a:ext>
            </a:extLst>
          </p:cNvPr>
          <p:cNvSpPr txBox="1"/>
          <p:nvPr/>
        </p:nvSpPr>
        <p:spPr>
          <a:xfrm>
            <a:off x="1847520" y="4030662"/>
            <a:ext cx="681824" cy="27699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t>Flexion</a:t>
            </a:r>
          </a:p>
        </p:txBody>
      </p:sp>
      <p:sp>
        <p:nvSpPr>
          <p:cNvPr id="6" name="TextBox 5">
            <a:extLst>
              <a:ext uri="{FF2B5EF4-FFF2-40B4-BE49-F238E27FC236}">
                <a16:creationId xmlns:a16="http://schemas.microsoft.com/office/drawing/2014/main" id="{6B2A03EA-A7C8-9E2B-AAD2-88AEB180722F}"/>
              </a:ext>
            </a:extLst>
          </p:cNvPr>
          <p:cNvSpPr txBox="1"/>
          <p:nvPr/>
        </p:nvSpPr>
        <p:spPr>
          <a:xfrm>
            <a:off x="3888683" y="2560638"/>
            <a:ext cx="789499" cy="27699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t>Extension</a:t>
            </a:r>
          </a:p>
        </p:txBody>
      </p:sp>
      <p:pic>
        <p:nvPicPr>
          <p:cNvPr id="11" name="Picture 10" descr="mts_flexion_stiffness_four_methods_bar.png">
            <a:extLst>
              <a:ext uri="{FF2B5EF4-FFF2-40B4-BE49-F238E27FC236}">
                <a16:creationId xmlns:a16="http://schemas.microsoft.com/office/drawing/2014/main" id="{EA0D2FAB-2A52-D730-F5ED-6677213C91BC}"/>
              </a:ext>
            </a:extLst>
          </p:cNvPr>
          <p:cNvPicPr>
            <a:picLocks noChangeAspect="1"/>
          </p:cNvPicPr>
          <p:nvPr/>
        </p:nvPicPr>
        <p:blipFill>
          <a:blip r:embed="rId3"/>
          <a:stretch>
            <a:fillRect/>
          </a:stretch>
        </p:blipFill>
        <p:spPr>
          <a:xfrm>
            <a:off x="5234942" y="3820072"/>
            <a:ext cx="4918524" cy="2357032"/>
          </a:xfrm>
          <a:prstGeom prst="rect">
            <a:avLst/>
          </a:prstGeom>
        </p:spPr>
      </p:pic>
      <p:pic>
        <p:nvPicPr>
          <p:cNvPr id="13" name="Picture 12" descr="mts_extension_stiffness_four_methods_bar.png">
            <a:extLst>
              <a:ext uri="{FF2B5EF4-FFF2-40B4-BE49-F238E27FC236}">
                <a16:creationId xmlns:a16="http://schemas.microsoft.com/office/drawing/2014/main" id="{4606D0E0-A550-4437-0AC5-4623FE1C3FFE}"/>
              </a:ext>
            </a:extLst>
          </p:cNvPr>
          <p:cNvPicPr>
            <a:picLocks noChangeAspect="1"/>
          </p:cNvPicPr>
          <p:nvPr/>
        </p:nvPicPr>
        <p:blipFill>
          <a:blip r:embed="rId4"/>
          <a:stretch>
            <a:fillRect/>
          </a:stretch>
        </p:blipFill>
        <p:spPr>
          <a:xfrm>
            <a:off x="5234942" y="1417638"/>
            <a:ext cx="4918524" cy="2357032"/>
          </a:xfrm>
          <a:prstGeom prst="rect">
            <a:avLst/>
          </a:prstGeom>
        </p:spPr>
      </p:pic>
    </p:spTree>
    <p:extLst>
      <p:ext uri="{BB962C8B-B14F-4D97-AF65-F5344CB8AC3E}">
        <p14:creationId xmlns:p14="http://schemas.microsoft.com/office/powerpoint/2010/main" val="797212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MTS FE (Native Axes): Extension 0-5 and Flexion 0 to -5 Nm Secant Fit Panels</a:t>
            </a:r>
          </a:p>
        </p:txBody>
      </p:sp>
      <p:pic>
        <p:nvPicPr>
          <p:cNvPr id="3" name="Picture 2" descr="mts_flexion_0to5_secant_fit_panels.png"/>
          <p:cNvPicPr>
            <a:picLocks noChangeAspect="1"/>
          </p:cNvPicPr>
          <p:nvPr/>
        </p:nvPicPr>
        <p:blipFill>
          <a:blip r:embed="rId2"/>
          <a:stretch>
            <a:fillRect/>
          </a:stretch>
        </p:blipFill>
        <p:spPr>
          <a:xfrm>
            <a:off x="457200" y="822960"/>
            <a:ext cx="11247120" cy="543137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MTS Flexion (Native Negative Axes): 0 to -5 Nm Secant Stiffness Bar</a:t>
            </a:r>
          </a:p>
        </p:txBody>
      </p:sp>
      <p:pic>
        <p:nvPicPr>
          <p:cNvPr id="3" name="Picture 2" descr="mts_flexion_0to5_secant_stiffness_bar.png"/>
          <p:cNvPicPr>
            <a:picLocks noChangeAspect="1"/>
          </p:cNvPicPr>
          <p:nvPr/>
        </p:nvPicPr>
        <p:blipFill>
          <a:blip r:embed="rId2"/>
          <a:stretch>
            <a:fillRect/>
          </a:stretch>
        </p:blipFill>
        <p:spPr>
          <a:xfrm>
            <a:off x="457200" y="1655437"/>
            <a:ext cx="8938260" cy="463872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MTS Extension (Native Positive Axes): 0 to 5 Nm Secant Stiffness Bar</a:t>
            </a:r>
          </a:p>
        </p:txBody>
      </p:sp>
      <p:pic>
        <p:nvPicPr>
          <p:cNvPr id="3" name="Picture 2" descr="mts_extension_0to5_secant_stiffness_bar.png"/>
          <p:cNvPicPr>
            <a:picLocks noChangeAspect="1"/>
          </p:cNvPicPr>
          <p:nvPr/>
        </p:nvPicPr>
        <p:blipFill>
          <a:blip r:embed="rId2"/>
          <a:stretch>
            <a:fillRect/>
          </a:stretch>
        </p:blipFill>
        <p:spPr>
          <a:xfrm>
            <a:off x="457200" y="822960"/>
            <a:ext cx="11247120" cy="583696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7E5B7-8FF4-60D8-8220-F7F7F07AA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37C1A-63D4-6F72-306F-BEEE5173C596}"/>
              </a:ext>
            </a:extLst>
          </p:cNvPr>
          <p:cNvSpPr>
            <a:spLocks noGrp="1"/>
          </p:cNvSpPr>
          <p:nvPr>
            <p:ph type="title"/>
          </p:nvPr>
        </p:nvSpPr>
        <p:spPr/>
        <p:txBody>
          <a:bodyPr/>
          <a:lstStyle/>
          <a:p>
            <a:r>
              <a:rPr lang="en-US" sz="2600" b="1" dirty="0"/>
              <a:t>Comparison with Literature (Zhang 2020)</a:t>
            </a:r>
            <a:endParaRPr sz="2600" b="1" dirty="0"/>
          </a:p>
        </p:txBody>
      </p:sp>
      <p:pic>
        <p:nvPicPr>
          <p:cNvPr id="7" name="Picture 6">
            <a:extLst>
              <a:ext uri="{FF2B5EF4-FFF2-40B4-BE49-F238E27FC236}">
                <a16:creationId xmlns:a16="http://schemas.microsoft.com/office/drawing/2014/main" id="{8E5BEF7B-D848-6203-6C5D-F90FC9E27DF0}"/>
              </a:ext>
            </a:extLst>
          </p:cNvPr>
          <p:cNvPicPr>
            <a:picLocks noChangeAspect="1"/>
          </p:cNvPicPr>
          <p:nvPr/>
        </p:nvPicPr>
        <p:blipFill>
          <a:blip r:embed="rId2"/>
          <a:stretch>
            <a:fillRect/>
          </a:stretch>
        </p:blipFill>
        <p:spPr>
          <a:xfrm>
            <a:off x="6387730" y="1366838"/>
            <a:ext cx="5461427" cy="5232400"/>
          </a:xfrm>
          <a:prstGeom prst="rect">
            <a:avLst/>
          </a:prstGeom>
        </p:spPr>
      </p:pic>
      <p:pic>
        <p:nvPicPr>
          <p:cNvPr id="8" name="Picture 7">
            <a:extLst>
              <a:ext uri="{FF2B5EF4-FFF2-40B4-BE49-F238E27FC236}">
                <a16:creationId xmlns:a16="http://schemas.microsoft.com/office/drawing/2014/main" id="{D7C95568-EC2D-4ADC-8B0D-7617A7614AED}"/>
              </a:ext>
            </a:extLst>
          </p:cNvPr>
          <p:cNvPicPr>
            <a:picLocks noChangeAspect="1"/>
          </p:cNvPicPr>
          <p:nvPr/>
        </p:nvPicPr>
        <p:blipFill>
          <a:blip r:embed="rId3"/>
          <a:stretch>
            <a:fillRect/>
          </a:stretch>
        </p:blipFill>
        <p:spPr>
          <a:xfrm>
            <a:off x="253943" y="1366838"/>
            <a:ext cx="6217942" cy="4124324"/>
          </a:xfrm>
          <a:prstGeom prst="rect">
            <a:avLst/>
          </a:prstGeom>
        </p:spPr>
      </p:pic>
    </p:spTree>
    <p:extLst>
      <p:ext uri="{BB962C8B-B14F-4D97-AF65-F5344CB8AC3E}">
        <p14:creationId xmlns:p14="http://schemas.microsoft.com/office/powerpoint/2010/main" val="19474426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B21543A-ADF5-B3B4-48E3-E0CC8ECB07A6}"/>
              </a:ext>
            </a:extLst>
          </p:cNvPr>
          <p:cNvSpPr txBox="1">
            <a:spLocks/>
          </p:cNvSpPr>
          <p:nvPr/>
        </p:nvSpPr>
        <p:spPr>
          <a:xfrm>
            <a:off x="685800" y="2130425"/>
            <a:ext cx="7772400" cy="147002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b="1" dirty="0"/>
              <a:t>Lamina Spreader Testing Data Summary</a:t>
            </a:r>
          </a:p>
        </p:txBody>
      </p:sp>
    </p:spTree>
    <p:extLst>
      <p:ext uri="{BB962C8B-B14F-4D97-AF65-F5344CB8AC3E}">
        <p14:creationId xmlns:p14="http://schemas.microsoft.com/office/powerpoint/2010/main" val="36936720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Workflow Overview</a:t>
            </a:r>
          </a:p>
        </p:txBody>
      </p:sp>
      <p:sp>
        <p:nvSpPr>
          <p:cNvPr id="3" name="TextBox 2"/>
          <p:cNvSpPr txBox="1"/>
          <p:nvPr/>
        </p:nvSpPr>
        <p:spPr>
          <a:xfrm>
            <a:off x="731520" y="1325880"/>
            <a:ext cx="10881360" cy="5212080"/>
          </a:xfrm>
          <a:prstGeom prst="rect">
            <a:avLst/>
          </a:prstGeom>
          <a:noFill/>
        </p:spPr>
        <p:txBody>
          <a:bodyPr wrap="none">
            <a:spAutoFit/>
          </a:bodyPr>
          <a:lstStyle/>
          <a:p>
            <a:pPr>
              <a:defRPr sz="1900"/>
            </a:pPr>
            <a:r>
              <a:rPr dirty="0"/>
              <a:t>1. Sync-check raw force and raw theta traces across interventions.</a:t>
            </a:r>
          </a:p>
          <a:p>
            <a:pPr>
              <a:defRPr sz="1900"/>
            </a:pPr>
            <a:r>
              <a:rPr dirty="0"/>
              <a:t>2. Apply force/theta filters only (no theta0 extraction yet).</a:t>
            </a:r>
          </a:p>
          <a:p>
            <a:pPr>
              <a:defRPr sz="1900"/>
            </a:pPr>
            <a:r>
              <a:rPr dirty="0"/>
              <a:t>3. Apply preload removal + theta0 baseline extraction + ramp-start detection with theta snap.</a:t>
            </a:r>
          </a:p>
          <a:p>
            <a:pPr>
              <a:defRPr sz="1900"/>
            </a:pPr>
            <a:r>
              <a:rPr dirty="0"/>
              <a:t>4. Mark transition-flagged cycles as ineligible.</a:t>
            </a:r>
          </a:p>
          <a:p>
            <a:pPr>
              <a:defRPr sz="1900"/>
            </a:pPr>
            <a:r>
              <a:rPr dirty="0"/>
              <a:t>5. Fit force-tip linear region using displacement &gt;= 0 mm points (some cycles can fail fit criteria).</a:t>
            </a:r>
          </a:p>
          <a:p>
            <a:pPr>
              <a:defRPr sz="1900"/>
            </a:pPr>
            <a:r>
              <a:rPr dirty="0"/>
              <a:t>6. Fit moment-theta linear region using theta &gt;= 0 deg points (some cycles can fail fit criteria).</a:t>
            </a:r>
          </a:p>
        </p:txBody>
      </p:sp>
      <p:pic>
        <p:nvPicPr>
          <p:cNvPr id="5" name="Picture 4">
            <a:extLst>
              <a:ext uri="{FF2B5EF4-FFF2-40B4-BE49-F238E27FC236}">
                <a16:creationId xmlns:a16="http://schemas.microsoft.com/office/drawing/2014/main" id="{759F3CE3-7B7B-BFF8-3766-E5EAF7159517}"/>
              </a:ext>
            </a:extLst>
          </p:cNvPr>
          <p:cNvPicPr>
            <a:picLocks noChangeAspect="1"/>
          </p:cNvPicPr>
          <p:nvPr/>
        </p:nvPicPr>
        <p:blipFill>
          <a:blip r:embed="rId2"/>
          <a:stretch>
            <a:fillRect/>
          </a:stretch>
        </p:blipFill>
        <p:spPr>
          <a:xfrm>
            <a:off x="-1154430" y="1325880"/>
            <a:ext cx="15922533" cy="56845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dirty="0"/>
              <a:t>Step 1: Raw Force-Theta Sync Check</a:t>
            </a:r>
          </a:p>
        </p:txBody>
      </p:sp>
      <p:pic>
        <p:nvPicPr>
          <p:cNvPr id="3" name="Picture 2" descr="sync_check_all_interventions_stacked.png"/>
          <p:cNvPicPr>
            <a:picLocks noChangeAspect="1"/>
          </p:cNvPicPr>
          <p:nvPr/>
        </p:nvPicPr>
        <p:blipFill>
          <a:blip r:embed="rId2"/>
          <a:stretch>
            <a:fillRect/>
          </a:stretch>
        </p:blipFill>
        <p:spPr>
          <a:xfrm>
            <a:off x="457200" y="1069521"/>
            <a:ext cx="11247120" cy="10845437"/>
          </a:xfrm>
          <a:prstGeom prst="rect">
            <a:avLst/>
          </a:prstGeom>
        </p:spPr>
      </p:pic>
      <p:sp>
        <p:nvSpPr>
          <p:cNvPr id="4" name="TextBox 3"/>
          <p:cNvSpPr txBox="1"/>
          <p:nvPr/>
        </p:nvSpPr>
        <p:spPr>
          <a:xfrm>
            <a:off x="548640" y="6309360"/>
            <a:ext cx="11064240" cy="365760"/>
          </a:xfrm>
          <a:prstGeom prst="rect">
            <a:avLst/>
          </a:prstGeom>
          <a:noFill/>
        </p:spPr>
        <p:txBody>
          <a:bodyPr wrap="none">
            <a:spAutoFit/>
          </a:bodyPr>
          <a:lstStyle/>
          <a:p>
            <a:pPr>
              <a:defRPr sz="1100"/>
            </a:pPr>
            <a:r>
              <a:t>All interventions stacked before filtering/corrections.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Step 2: Filtering Only (No Theta0 Yet)</a:t>
            </a:r>
          </a:p>
        </p:txBody>
      </p:sp>
      <p:pic>
        <p:nvPicPr>
          <p:cNvPr id="3" name="Picture 2" descr="sync_check_all_interventions_stacked_filtered_rampstart.png"/>
          <p:cNvPicPr>
            <a:picLocks noChangeAspect="1"/>
          </p:cNvPicPr>
          <p:nvPr/>
        </p:nvPicPr>
        <p:blipFill>
          <a:blip r:embed="rId2"/>
          <a:stretch>
            <a:fillRect/>
          </a:stretch>
        </p:blipFill>
        <p:spPr>
          <a:xfrm>
            <a:off x="457200" y="1069521"/>
            <a:ext cx="11247120" cy="10845437"/>
          </a:xfrm>
          <a:prstGeom prst="rect">
            <a:avLst/>
          </a:prstGeom>
        </p:spPr>
      </p:pic>
      <p:sp>
        <p:nvSpPr>
          <p:cNvPr id="4" name="TextBox 3"/>
          <p:cNvSpPr txBox="1"/>
          <p:nvPr/>
        </p:nvSpPr>
        <p:spPr>
          <a:xfrm>
            <a:off x="548640" y="6309360"/>
            <a:ext cx="11064240" cy="365760"/>
          </a:xfrm>
          <a:prstGeom prst="rect">
            <a:avLst/>
          </a:prstGeom>
          <a:noFill/>
        </p:spPr>
        <p:txBody>
          <a:bodyPr wrap="none">
            <a:spAutoFit/>
          </a:bodyPr>
          <a:lstStyle/>
          <a:p>
            <a:pPr>
              <a:defRPr sz="1100"/>
            </a:pPr>
            <a:r>
              <a:t>Filtered force/theta signals only; no theta0 extraction or preload removal in this step.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Step 3: Preload Removal + Theta0 + Ramp-Start Snap</a:t>
            </a:r>
          </a:p>
        </p:txBody>
      </p:sp>
      <p:pic>
        <p:nvPicPr>
          <p:cNvPr id="3" name="Picture 2" descr="sync_check_all_interventions_stacked_filtered_rampstart_preloadfree_theta0corr.png"/>
          <p:cNvPicPr>
            <a:picLocks noChangeAspect="1"/>
          </p:cNvPicPr>
          <p:nvPr/>
        </p:nvPicPr>
        <p:blipFill>
          <a:blip r:embed="rId2"/>
          <a:stretch>
            <a:fillRect/>
          </a:stretch>
        </p:blipFill>
        <p:spPr>
          <a:xfrm>
            <a:off x="457200" y="1069521"/>
            <a:ext cx="11247120" cy="10845437"/>
          </a:xfrm>
          <a:prstGeom prst="rect">
            <a:avLst/>
          </a:prstGeom>
        </p:spPr>
      </p:pic>
      <p:sp>
        <p:nvSpPr>
          <p:cNvPr id="4" name="TextBox 3"/>
          <p:cNvSpPr txBox="1"/>
          <p:nvPr/>
        </p:nvSpPr>
        <p:spPr>
          <a:xfrm>
            <a:off x="548640" y="6309360"/>
            <a:ext cx="11064240" cy="365760"/>
          </a:xfrm>
          <a:prstGeom prst="rect">
            <a:avLst/>
          </a:prstGeom>
          <a:noFill/>
        </p:spPr>
        <p:txBody>
          <a:bodyPr wrap="none">
            <a:spAutoFit/>
          </a:bodyPr>
          <a:lstStyle/>
          <a:p>
            <a:pPr>
              <a:defRPr sz="1100"/>
            </a:pPr>
            <a:r>
              <a:t>Signals after preload removal, theta0 baseline extraction, and ramp-start detection with theta snap.</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Step 4: Mark And Exclude Ineligible Cycles</a:t>
            </a:r>
          </a:p>
        </p:txBody>
      </p:sp>
      <p:sp>
        <p:nvSpPr>
          <p:cNvPr id="3" name="TextBox 2"/>
          <p:cNvSpPr txBox="1"/>
          <p:nvPr/>
        </p:nvSpPr>
        <p:spPr>
          <a:xfrm>
            <a:off x="594360" y="1051560"/>
            <a:ext cx="11064240" cy="5440680"/>
          </a:xfrm>
          <a:prstGeom prst="rect">
            <a:avLst/>
          </a:prstGeom>
          <a:noFill/>
        </p:spPr>
        <p:txBody>
          <a:bodyPr wrap="none">
            <a:spAutoFit/>
          </a:bodyPr>
          <a:lstStyle/>
          <a:p>
            <a:pPr>
              <a:defRPr sz="1200">
                <a:latin typeface="Consolas"/>
              </a:defRPr>
            </a:pPr>
            <a:r>
              <a:rPr dirty="0"/>
              <a:t>Step 4: Cycle Eligibility (Transition-Flag Filtering)</a:t>
            </a:r>
          </a:p>
          <a:p>
            <a:pPr>
              <a:defRPr sz="1200">
                <a:latin typeface="Consolas"/>
              </a:defRPr>
            </a:pPr>
            <a:endParaRPr dirty="0"/>
          </a:p>
          <a:p>
            <a:pPr>
              <a:defRPr sz="1200">
                <a:latin typeface="Consolas"/>
              </a:defRPr>
            </a:pPr>
            <a:r>
              <a:rPr dirty="0"/>
              <a:t>Intervention              </a:t>
            </a:r>
            <a:r>
              <a:rPr dirty="0" err="1"/>
              <a:t>n_cycles</a:t>
            </a:r>
            <a:r>
              <a:rPr dirty="0"/>
              <a:t>   eligible   ineligible</a:t>
            </a:r>
          </a:p>
          <a:p>
            <a:pPr>
              <a:defRPr sz="1200">
                <a:latin typeface="Consolas"/>
              </a:defRPr>
            </a:pPr>
            <a:r>
              <a:rPr dirty="0"/>
              <a:t>---------------------------------------------------------</a:t>
            </a:r>
          </a:p>
          <a:p>
            <a:pPr>
              <a:defRPr sz="1200">
                <a:latin typeface="Consolas"/>
              </a:defRPr>
            </a:pPr>
            <a:r>
              <a:rPr dirty="0"/>
              <a:t>FBF                             9          9            0</a:t>
            </a:r>
          </a:p>
          <a:p>
            <a:pPr>
              <a:defRPr sz="1200">
                <a:latin typeface="Consolas"/>
              </a:defRPr>
            </a:pPr>
            <a:r>
              <a:rPr dirty="0"/>
              <a:t>FUF                             9          9            0</a:t>
            </a:r>
          </a:p>
          <a:p>
            <a:pPr>
              <a:defRPr sz="1200">
                <a:latin typeface="Consolas"/>
              </a:defRPr>
            </a:pPr>
            <a:r>
              <a:rPr dirty="0"/>
              <a:t>Intact                          9          9            0</a:t>
            </a:r>
          </a:p>
          <a:p>
            <a:pPr>
              <a:defRPr sz="1200">
                <a:latin typeface="Consolas"/>
              </a:defRPr>
            </a:pPr>
            <a:r>
              <a:rPr dirty="0"/>
              <a:t>PUF                             9          9            0</a:t>
            </a:r>
          </a:p>
          <a:p>
            <a:pPr>
              <a:defRPr sz="1200">
                <a:latin typeface="Consolas"/>
              </a:defRPr>
            </a:pPr>
            <a:r>
              <a:rPr dirty="0"/>
              <a:t>Posterior Release              10         10            0</a:t>
            </a:r>
          </a:p>
          <a:p>
            <a:pPr>
              <a:defRPr sz="1200">
                <a:latin typeface="Consolas"/>
              </a:defRPr>
            </a:pPr>
            <a:r>
              <a:rPr dirty="0"/>
              <a:t>SPO                             9          6            3</a:t>
            </a:r>
          </a:p>
          <a:p>
            <a:pPr>
              <a:defRPr sz="1200">
                <a:latin typeface="Consolas"/>
              </a:defRPr>
            </a:pPr>
            <a:endParaRPr dirty="0"/>
          </a:p>
          <a:p>
            <a:pPr>
              <a:defRPr sz="1200">
                <a:latin typeface="Consolas"/>
              </a:defRPr>
            </a:pPr>
            <a:r>
              <a:rPr dirty="0"/>
              <a:t>Rule: transition-flagged cycles are excluded from stiffness fitting.</a:t>
            </a:r>
          </a:p>
          <a:p>
            <a:pPr>
              <a:defRPr sz="1200">
                <a:latin typeface="Consolas"/>
              </a:defRPr>
            </a:pPr>
            <a:r>
              <a:rPr dirty="0"/>
              <a:t>Note: ineligible here only counts </a:t>
            </a:r>
            <a:r>
              <a:rPr dirty="0" err="1"/>
              <a:t>transition_flag</a:t>
            </a:r>
            <a:r>
              <a:rPr dirty="0"/>
              <a:t>=True cycles.</a:t>
            </a:r>
          </a:p>
          <a:p>
            <a:pPr>
              <a:defRPr sz="1200">
                <a:latin typeface="Consolas"/>
              </a:defRPr>
            </a:pPr>
            <a:endParaRPr dirty="0"/>
          </a:p>
          <a:p>
            <a:pPr>
              <a:defRPr sz="1200">
                <a:latin typeface="Consolas"/>
              </a:defRPr>
            </a:pPr>
            <a:r>
              <a:rPr dirty="0"/>
              <a:t>Additional exclusions can occur later at fit stage (separate from transition flags):</a:t>
            </a:r>
          </a:p>
          <a:p>
            <a:pPr>
              <a:defRPr sz="1200">
                <a:latin typeface="Consolas"/>
              </a:defRPr>
            </a:pPr>
            <a:r>
              <a:rPr dirty="0"/>
              <a:t>Intervention              force-fit excluded   moment-fit excluded</a:t>
            </a:r>
          </a:p>
          <a:p>
            <a:pPr>
              <a:defRPr sz="1200">
                <a:latin typeface="Consolas"/>
              </a:defRPr>
            </a:pPr>
            <a:r>
              <a:rPr dirty="0"/>
              <a:t>--------------------------------------------------------------</a:t>
            </a:r>
          </a:p>
          <a:p>
            <a:pPr>
              <a:defRPr sz="1200">
                <a:latin typeface="Consolas"/>
              </a:defRPr>
            </a:pPr>
            <a:r>
              <a:rPr dirty="0"/>
              <a:t>FBF                                       0                     0</a:t>
            </a:r>
          </a:p>
          <a:p>
            <a:pPr>
              <a:defRPr sz="1200">
                <a:latin typeface="Consolas"/>
              </a:defRPr>
            </a:pPr>
            <a:r>
              <a:rPr dirty="0"/>
              <a:t>FUF                                       0                     0</a:t>
            </a:r>
          </a:p>
          <a:p>
            <a:pPr>
              <a:defRPr sz="1200">
                <a:latin typeface="Consolas"/>
              </a:defRPr>
            </a:pPr>
            <a:r>
              <a:rPr dirty="0"/>
              <a:t>Intact                                    1                     1</a:t>
            </a:r>
          </a:p>
          <a:p>
            <a:pPr>
              <a:defRPr sz="1200">
                <a:latin typeface="Consolas"/>
              </a:defRPr>
            </a:pPr>
            <a:r>
              <a:rPr dirty="0"/>
              <a:t>PUF                                       0                     0</a:t>
            </a:r>
          </a:p>
          <a:p>
            <a:pPr>
              <a:defRPr sz="1200">
                <a:latin typeface="Consolas"/>
              </a:defRPr>
            </a:pPr>
            <a:r>
              <a:rPr dirty="0"/>
              <a:t>Posterior Release                         0                     0</a:t>
            </a:r>
          </a:p>
          <a:p>
            <a:pPr>
              <a:defRPr sz="1200">
                <a:latin typeface="Consolas"/>
              </a:defRPr>
            </a:pPr>
            <a:r>
              <a:rPr dirty="0"/>
              <a:t>SPO                                       3                     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Step 5A: Force-Tip Linear Region Fitting: Intact</a:t>
            </a:r>
          </a:p>
        </p:txBody>
      </p:sp>
      <p:pic>
        <p:nvPicPr>
          <p:cNvPr id="3" name="Picture 2" descr="2___Intact_Holding_Longer_all_cycles_force_tip_linear_region_stiffness.png"/>
          <p:cNvPicPr>
            <a:picLocks noChangeAspect="1"/>
          </p:cNvPicPr>
          <p:nvPr/>
        </p:nvPicPr>
        <p:blipFill>
          <a:blip r:embed="rId2"/>
          <a:stretch>
            <a:fillRect/>
          </a:stretch>
        </p:blipFill>
        <p:spPr>
          <a:xfrm>
            <a:off x="487680" y="1417638"/>
            <a:ext cx="11247120" cy="10166888"/>
          </a:xfrm>
          <a:prstGeom prst="rect">
            <a:avLst/>
          </a:prstGeom>
        </p:spPr>
      </p:pic>
      <p:sp>
        <p:nvSpPr>
          <p:cNvPr id="4" name="TextBox 3"/>
          <p:cNvSpPr txBox="1"/>
          <p:nvPr/>
        </p:nvSpPr>
        <p:spPr>
          <a:xfrm>
            <a:off x="548640" y="6309360"/>
            <a:ext cx="11064240" cy="365760"/>
          </a:xfrm>
          <a:prstGeom prst="rect">
            <a:avLst/>
          </a:prstGeom>
          <a:noFill/>
        </p:spPr>
        <p:txBody>
          <a:bodyPr wrap="none">
            <a:spAutoFit/>
          </a:bodyPr>
          <a:lstStyle/>
          <a:p>
            <a:pPr>
              <a:defRPr sz="1100"/>
            </a:pPr>
            <a:r>
              <a:t>Cycle-wise linear windows and per-cycle stiffness (fit uses displacement &gt;= 0 mm; shared force y-limits) for Intact.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Step 5A: Force-Tip Linear Region Fitting: PUF</a:t>
            </a:r>
          </a:p>
        </p:txBody>
      </p:sp>
      <p:pic>
        <p:nvPicPr>
          <p:cNvPr id="3" name="Picture 2" descr="3___PUBF_Left_all_cycles_force_tip_linear_region_stiffness.png"/>
          <p:cNvPicPr>
            <a:picLocks noChangeAspect="1"/>
          </p:cNvPicPr>
          <p:nvPr/>
        </p:nvPicPr>
        <p:blipFill>
          <a:blip r:embed="rId2"/>
          <a:stretch>
            <a:fillRect/>
          </a:stretch>
        </p:blipFill>
        <p:spPr>
          <a:xfrm>
            <a:off x="457200" y="822960"/>
            <a:ext cx="11247120" cy="10166888"/>
          </a:xfrm>
          <a:prstGeom prst="rect">
            <a:avLst/>
          </a:prstGeom>
        </p:spPr>
      </p:pic>
      <p:sp>
        <p:nvSpPr>
          <p:cNvPr id="4" name="TextBox 3"/>
          <p:cNvSpPr txBox="1"/>
          <p:nvPr/>
        </p:nvSpPr>
        <p:spPr>
          <a:xfrm>
            <a:off x="548640" y="6309360"/>
            <a:ext cx="11064240" cy="365760"/>
          </a:xfrm>
          <a:prstGeom prst="rect">
            <a:avLst/>
          </a:prstGeom>
          <a:noFill/>
        </p:spPr>
        <p:txBody>
          <a:bodyPr wrap="none">
            <a:spAutoFit/>
          </a:bodyPr>
          <a:lstStyle/>
          <a:p>
            <a:pPr>
              <a:defRPr sz="1100"/>
            </a:pPr>
            <a:r>
              <a:t>Cycle-wise linear windows and per-cycle stiffness (fit uses displacement &gt;= 0 mm; shared force y-limits) for PUF.</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Step 5A: Force-Tip Linear Region Fitting: FUF</a:t>
            </a:r>
          </a:p>
        </p:txBody>
      </p:sp>
      <p:pic>
        <p:nvPicPr>
          <p:cNvPr id="3" name="Picture 2" descr="4___FUF_Left_all_cycles_force_tip_linear_region_stiffness.png"/>
          <p:cNvPicPr>
            <a:picLocks noChangeAspect="1"/>
          </p:cNvPicPr>
          <p:nvPr/>
        </p:nvPicPr>
        <p:blipFill>
          <a:blip r:embed="rId2"/>
          <a:stretch>
            <a:fillRect/>
          </a:stretch>
        </p:blipFill>
        <p:spPr>
          <a:xfrm>
            <a:off x="457200" y="822960"/>
            <a:ext cx="11247120" cy="10166888"/>
          </a:xfrm>
          <a:prstGeom prst="rect">
            <a:avLst/>
          </a:prstGeom>
        </p:spPr>
      </p:pic>
      <p:sp>
        <p:nvSpPr>
          <p:cNvPr id="4" name="TextBox 3"/>
          <p:cNvSpPr txBox="1"/>
          <p:nvPr/>
        </p:nvSpPr>
        <p:spPr>
          <a:xfrm>
            <a:off x="548640" y="6309360"/>
            <a:ext cx="11064240" cy="365760"/>
          </a:xfrm>
          <a:prstGeom prst="rect">
            <a:avLst/>
          </a:prstGeom>
          <a:noFill/>
        </p:spPr>
        <p:txBody>
          <a:bodyPr wrap="none">
            <a:spAutoFit/>
          </a:bodyPr>
          <a:lstStyle/>
          <a:p>
            <a:pPr>
              <a:defRPr sz="1100"/>
            </a:pPr>
            <a:r>
              <a:t>Cycle-wise linear windows and per-cycle stiffness (fit uses displacement &gt;= 0 mm; shared force y-limits) for FUF.</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Step 5A: Force-Tip Linear Region Fitting: FBF</a:t>
            </a:r>
          </a:p>
        </p:txBody>
      </p:sp>
      <p:pic>
        <p:nvPicPr>
          <p:cNvPr id="3" name="Picture 2" descr="5___FBF_all_cycles_force_tip_linear_region_stiffness.png"/>
          <p:cNvPicPr>
            <a:picLocks noChangeAspect="1"/>
          </p:cNvPicPr>
          <p:nvPr/>
        </p:nvPicPr>
        <p:blipFill>
          <a:blip r:embed="rId2"/>
          <a:stretch>
            <a:fillRect/>
          </a:stretch>
        </p:blipFill>
        <p:spPr>
          <a:xfrm>
            <a:off x="457200" y="822960"/>
            <a:ext cx="11247120" cy="10166888"/>
          </a:xfrm>
          <a:prstGeom prst="rect">
            <a:avLst/>
          </a:prstGeom>
        </p:spPr>
      </p:pic>
      <p:sp>
        <p:nvSpPr>
          <p:cNvPr id="4" name="TextBox 3"/>
          <p:cNvSpPr txBox="1"/>
          <p:nvPr/>
        </p:nvSpPr>
        <p:spPr>
          <a:xfrm>
            <a:off x="548640" y="6309360"/>
            <a:ext cx="11064240" cy="365760"/>
          </a:xfrm>
          <a:prstGeom prst="rect">
            <a:avLst/>
          </a:prstGeom>
          <a:noFill/>
        </p:spPr>
        <p:txBody>
          <a:bodyPr wrap="none">
            <a:spAutoFit/>
          </a:bodyPr>
          <a:lstStyle/>
          <a:p>
            <a:pPr>
              <a:defRPr sz="1100"/>
            </a:pPr>
            <a:r>
              <a:t>Cycle-wise linear windows and per-cycle stiffness (fit uses displacement &gt;= 0 mm; shared force y-limits) for FBF.</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Step 5A: Force-Tip Linear Region Fitting: Posterior Release</a:t>
            </a:r>
          </a:p>
        </p:txBody>
      </p:sp>
      <p:pic>
        <p:nvPicPr>
          <p:cNvPr id="3" name="Picture 2" descr="6___Posterior_Release_all_cycles_force_tip_linear_region_stiffness.png"/>
          <p:cNvPicPr>
            <a:picLocks noChangeAspect="1"/>
          </p:cNvPicPr>
          <p:nvPr/>
        </p:nvPicPr>
        <p:blipFill>
          <a:blip r:embed="rId2"/>
          <a:stretch>
            <a:fillRect/>
          </a:stretch>
        </p:blipFill>
        <p:spPr>
          <a:xfrm>
            <a:off x="457200" y="822960"/>
            <a:ext cx="11247120" cy="12708610"/>
          </a:xfrm>
          <a:prstGeom prst="rect">
            <a:avLst/>
          </a:prstGeom>
        </p:spPr>
      </p:pic>
      <p:sp>
        <p:nvSpPr>
          <p:cNvPr id="4" name="TextBox 3"/>
          <p:cNvSpPr txBox="1"/>
          <p:nvPr/>
        </p:nvSpPr>
        <p:spPr>
          <a:xfrm>
            <a:off x="548640" y="6309360"/>
            <a:ext cx="11064240" cy="365760"/>
          </a:xfrm>
          <a:prstGeom prst="rect">
            <a:avLst/>
          </a:prstGeom>
          <a:noFill/>
        </p:spPr>
        <p:txBody>
          <a:bodyPr wrap="none">
            <a:spAutoFit/>
          </a:bodyPr>
          <a:lstStyle/>
          <a:p>
            <a:pPr>
              <a:defRPr sz="1100"/>
            </a:pPr>
            <a:r>
              <a:t>Cycle-wise linear windows and per-cycle stiffness (fit uses displacement &gt;= 0 mm; shared force y-limits) for Posterior Release.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Step 5A: Force-Tip Linear Region Fitting: SPO</a:t>
            </a:r>
          </a:p>
        </p:txBody>
      </p:sp>
      <p:pic>
        <p:nvPicPr>
          <p:cNvPr id="3" name="Picture 2" descr="7___SPO_all_cycles_force_tip_linear_region_stiffness.png"/>
          <p:cNvPicPr>
            <a:picLocks noChangeAspect="1"/>
          </p:cNvPicPr>
          <p:nvPr/>
        </p:nvPicPr>
        <p:blipFill>
          <a:blip r:embed="rId2"/>
          <a:stretch>
            <a:fillRect/>
          </a:stretch>
        </p:blipFill>
        <p:spPr>
          <a:xfrm>
            <a:off x="472440" y="1499918"/>
            <a:ext cx="11247120" cy="10166888"/>
          </a:xfrm>
          <a:prstGeom prst="rect">
            <a:avLst/>
          </a:prstGeom>
        </p:spPr>
      </p:pic>
      <p:sp>
        <p:nvSpPr>
          <p:cNvPr id="4" name="TextBox 3"/>
          <p:cNvSpPr txBox="1"/>
          <p:nvPr/>
        </p:nvSpPr>
        <p:spPr>
          <a:xfrm>
            <a:off x="548640" y="6309360"/>
            <a:ext cx="11064240" cy="365760"/>
          </a:xfrm>
          <a:prstGeom prst="rect">
            <a:avLst/>
          </a:prstGeom>
          <a:noFill/>
        </p:spPr>
        <p:txBody>
          <a:bodyPr wrap="none">
            <a:spAutoFit/>
          </a:bodyPr>
          <a:lstStyle/>
          <a:p>
            <a:pPr>
              <a:defRPr sz="1100"/>
            </a:pPr>
            <a:r>
              <a:t>Cycle-wise linear windows and per-cycle stiffness (fit uses displacement &gt;= 0 mm; shared force y-limits) for SPO.</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Step 5B: Linear Stiffness Results Across Interventions</a:t>
            </a:r>
          </a:p>
        </p:txBody>
      </p:sp>
      <p:pic>
        <p:nvPicPr>
          <p:cNvPr id="3" name="Picture 2" descr="all_interventions_linear_region_stiffness_mean_std_bar_by_order.png"/>
          <p:cNvPicPr>
            <a:picLocks noChangeAspect="1"/>
          </p:cNvPicPr>
          <p:nvPr/>
        </p:nvPicPr>
        <p:blipFill>
          <a:blip r:embed="rId2"/>
          <a:stretch>
            <a:fillRect/>
          </a:stretch>
        </p:blipFill>
        <p:spPr>
          <a:xfrm>
            <a:off x="457200" y="1074045"/>
            <a:ext cx="11247120" cy="5578908"/>
          </a:xfrm>
          <a:prstGeom prst="rect">
            <a:avLst/>
          </a:prstGeom>
        </p:spPr>
      </p:pic>
      <p:sp>
        <p:nvSpPr>
          <p:cNvPr id="4" name="TextBox 3"/>
          <p:cNvSpPr txBox="1"/>
          <p:nvPr/>
        </p:nvSpPr>
        <p:spPr>
          <a:xfrm>
            <a:off x="548640" y="6309360"/>
            <a:ext cx="11064240" cy="365760"/>
          </a:xfrm>
          <a:prstGeom prst="rect">
            <a:avLst/>
          </a:prstGeom>
          <a:noFill/>
        </p:spPr>
        <p:txBody>
          <a:bodyPr wrap="none">
            <a:spAutoFit/>
          </a:bodyPr>
          <a:lstStyle/>
          <a:p>
            <a:pPr>
              <a:defRPr sz="1100"/>
            </a:pPr>
            <a:r>
              <a:t>Mean ± SD from valid cycles (force-tip linear-region stiffness).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Linear Stiffness Ranking</a:t>
            </a:r>
          </a:p>
        </p:txBody>
      </p:sp>
      <p:sp>
        <p:nvSpPr>
          <p:cNvPr id="3" name="TextBox 2"/>
          <p:cNvSpPr txBox="1"/>
          <p:nvPr/>
        </p:nvSpPr>
        <p:spPr>
          <a:xfrm>
            <a:off x="594360" y="868680"/>
            <a:ext cx="11064240" cy="5440680"/>
          </a:xfrm>
          <a:prstGeom prst="rect">
            <a:avLst/>
          </a:prstGeom>
          <a:noFill/>
        </p:spPr>
        <p:txBody>
          <a:bodyPr wrap="none">
            <a:spAutoFit/>
          </a:bodyPr>
          <a:lstStyle/>
          <a:p>
            <a:pPr>
              <a:defRPr sz="1200">
                <a:latin typeface="Consolas"/>
              </a:defRPr>
            </a:pPr>
            <a:r>
              <a:t>Step 6A Results: Linear-Region Force-Tip Stiffness</a:t>
            </a:r>
          </a:p>
          <a:p>
            <a:pPr>
              <a:defRPr sz="1200">
                <a:latin typeface="Consolas"/>
              </a:defRPr>
            </a:pPr>
            <a:endParaRPr/>
          </a:p>
          <a:p>
            <a:pPr>
              <a:defRPr sz="1200">
                <a:latin typeface="Consolas"/>
              </a:defRPr>
            </a:pPr>
            <a:r>
              <a:t>Rank  Intervention            median [N/mm]    mean [N/mm]   n_valid/n_cycles</a:t>
            </a:r>
          </a:p>
          <a:p>
            <a:pPr>
              <a:defRPr sz="1200">
                <a:latin typeface="Consolas"/>
              </a:defRPr>
            </a:pPr>
            <a:r>
              <a:t>--------------------------------------------------------------------------</a:t>
            </a:r>
          </a:p>
          <a:p>
            <a:pPr>
              <a:defRPr sz="1200">
                <a:latin typeface="Consolas"/>
              </a:defRPr>
            </a:pPr>
            <a:r>
              <a:t>   1  SPO                          8.158          7.037      6/9</a:t>
            </a:r>
          </a:p>
          <a:p>
            <a:pPr>
              <a:defRPr sz="1200">
                <a:latin typeface="Consolas"/>
              </a:defRPr>
            </a:pPr>
            <a:r>
              <a:t>   2  FUF                          8.158          7.851      9/9</a:t>
            </a:r>
          </a:p>
          <a:p>
            <a:pPr>
              <a:defRPr sz="1200">
                <a:latin typeface="Consolas"/>
              </a:defRPr>
            </a:pPr>
            <a:r>
              <a:t>   3  Posterior Release            7.716          8.775      10/10</a:t>
            </a:r>
          </a:p>
          <a:p>
            <a:pPr>
              <a:defRPr sz="1200">
                <a:latin typeface="Consolas"/>
              </a:defRPr>
            </a:pPr>
            <a:r>
              <a:t>   4  PUF                          7.170          7.450      9/9</a:t>
            </a:r>
          </a:p>
          <a:p>
            <a:pPr>
              <a:defRPr sz="1200">
                <a:latin typeface="Consolas"/>
              </a:defRPr>
            </a:pPr>
            <a:r>
              <a:t>   5  FBF                          7.086          6.495      9/9</a:t>
            </a:r>
          </a:p>
          <a:p>
            <a:pPr>
              <a:defRPr sz="1200">
                <a:latin typeface="Consolas"/>
              </a:defRPr>
            </a:pPr>
            <a:r>
              <a:t>   6  Intact                       4.011          5.483      8/9</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Step 6A: Moment-Theta Processing: Intact</a:t>
            </a:r>
          </a:p>
        </p:txBody>
      </p:sp>
      <p:pic>
        <p:nvPicPr>
          <p:cNvPr id="3" name="Picture 2" descr="2___Intact_Holding_Longer_all_cycles_moment_theta.png"/>
          <p:cNvPicPr>
            <a:picLocks noChangeAspect="1"/>
          </p:cNvPicPr>
          <p:nvPr/>
        </p:nvPicPr>
        <p:blipFill>
          <a:blip r:embed="rId2"/>
          <a:stretch>
            <a:fillRect/>
          </a:stretch>
        </p:blipFill>
        <p:spPr>
          <a:xfrm>
            <a:off x="472440" y="1136619"/>
            <a:ext cx="11247120" cy="10345482"/>
          </a:xfrm>
          <a:prstGeom prst="rect">
            <a:avLst/>
          </a:prstGeom>
        </p:spPr>
      </p:pic>
      <p:sp>
        <p:nvSpPr>
          <p:cNvPr id="4" name="TextBox 3"/>
          <p:cNvSpPr txBox="1"/>
          <p:nvPr/>
        </p:nvSpPr>
        <p:spPr>
          <a:xfrm>
            <a:off x="548640" y="6309360"/>
            <a:ext cx="11064240" cy="365760"/>
          </a:xfrm>
          <a:prstGeom prst="rect">
            <a:avLst/>
          </a:prstGeom>
          <a:noFill/>
        </p:spPr>
        <p:txBody>
          <a:bodyPr wrap="none">
            <a:spAutoFit/>
          </a:bodyPr>
          <a:lstStyle/>
          <a:p>
            <a:pPr>
              <a:defRPr sz="1100"/>
            </a:pPr>
            <a:r>
              <a:t>Cycle-wise rotational stiffness processing (fit uses theta &gt;= 0 deg; shared theta limits) for Intact.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Step 6A: Moment-Theta Processing: PUF</a:t>
            </a:r>
          </a:p>
        </p:txBody>
      </p:sp>
      <p:pic>
        <p:nvPicPr>
          <p:cNvPr id="3" name="Picture 2" descr="3___PUBF_Left_all_cycles_moment_theta.png"/>
          <p:cNvPicPr>
            <a:picLocks noChangeAspect="1"/>
          </p:cNvPicPr>
          <p:nvPr/>
        </p:nvPicPr>
        <p:blipFill>
          <a:blip r:embed="rId2"/>
          <a:stretch>
            <a:fillRect/>
          </a:stretch>
        </p:blipFill>
        <p:spPr>
          <a:xfrm>
            <a:off x="457200" y="822960"/>
            <a:ext cx="11247120" cy="10345482"/>
          </a:xfrm>
          <a:prstGeom prst="rect">
            <a:avLst/>
          </a:prstGeom>
        </p:spPr>
      </p:pic>
      <p:sp>
        <p:nvSpPr>
          <p:cNvPr id="4" name="TextBox 3"/>
          <p:cNvSpPr txBox="1"/>
          <p:nvPr/>
        </p:nvSpPr>
        <p:spPr>
          <a:xfrm>
            <a:off x="548640" y="6309360"/>
            <a:ext cx="11064240" cy="365760"/>
          </a:xfrm>
          <a:prstGeom prst="rect">
            <a:avLst/>
          </a:prstGeom>
          <a:noFill/>
        </p:spPr>
        <p:txBody>
          <a:bodyPr wrap="none">
            <a:spAutoFit/>
          </a:bodyPr>
          <a:lstStyle/>
          <a:p>
            <a:pPr>
              <a:defRPr sz="1100"/>
            </a:pPr>
            <a:r>
              <a:t>Cycle-wise rotational stiffness processing (fit uses theta &gt;= 0 deg; shared theta limits) for PUF.</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Step 6A: Moment-Theta Processing: FUF</a:t>
            </a:r>
          </a:p>
        </p:txBody>
      </p:sp>
      <p:pic>
        <p:nvPicPr>
          <p:cNvPr id="3" name="Picture 2" descr="4___FUF_Left_all_cycles_moment_theta.png"/>
          <p:cNvPicPr>
            <a:picLocks noChangeAspect="1"/>
          </p:cNvPicPr>
          <p:nvPr/>
        </p:nvPicPr>
        <p:blipFill>
          <a:blip r:embed="rId2"/>
          <a:stretch>
            <a:fillRect/>
          </a:stretch>
        </p:blipFill>
        <p:spPr>
          <a:xfrm>
            <a:off x="457200" y="822960"/>
            <a:ext cx="11247120" cy="10345482"/>
          </a:xfrm>
          <a:prstGeom prst="rect">
            <a:avLst/>
          </a:prstGeom>
        </p:spPr>
      </p:pic>
      <p:sp>
        <p:nvSpPr>
          <p:cNvPr id="4" name="TextBox 3"/>
          <p:cNvSpPr txBox="1"/>
          <p:nvPr/>
        </p:nvSpPr>
        <p:spPr>
          <a:xfrm>
            <a:off x="548640" y="6309360"/>
            <a:ext cx="11064240" cy="365760"/>
          </a:xfrm>
          <a:prstGeom prst="rect">
            <a:avLst/>
          </a:prstGeom>
          <a:noFill/>
        </p:spPr>
        <p:txBody>
          <a:bodyPr wrap="none">
            <a:spAutoFit/>
          </a:bodyPr>
          <a:lstStyle/>
          <a:p>
            <a:pPr>
              <a:defRPr sz="1100"/>
            </a:pPr>
            <a:r>
              <a:t>Cycle-wise rotational stiffness processing (fit uses theta &gt;= 0 deg; shared theta limits) for FUF.</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Step 6A: Moment-Theta Processing: FBF</a:t>
            </a:r>
          </a:p>
        </p:txBody>
      </p:sp>
      <p:pic>
        <p:nvPicPr>
          <p:cNvPr id="3" name="Picture 2" descr="5___FBF_all_cycles_moment_theta.png"/>
          <p:cNvPicPr>
            <a:picLocks noChangeAspect="1"/>
          </p:cNvPicPr>
          <p:nvPr/>
        </p:nvPicPr>
        <p:blipFill>
          <a:blip r:embed="rId2"/>
          <a:stretch>
            <a:fillRect/>
          </a:stretch>
        </p:blipFill>
        <p:spPr>
          <a:xfrm>
            <a:off x="457200" y="1319499"/>
            <a:ext cx="11247120" cy="10345482"/>
          </a:xfrm>
          <a:prstGeom prst="rect">
            <a:avLst/>
          </a:prstGeom>
        </p:spPr>
      </p:pic>
      <p:sp>
        <p:nvSpPr>
          <p:cNvPr id="4" name="TextBox 3"/>
          <p:cNvSpPr txBox="1"/>
          <p:nvPr/>
        </p:nvSpPr>
        <p:spPr>
          <a:xfrm>
            <a:off x="548640" y="6309360"/>
            <a:ext cx="11064240" cy="365760"/>
          </a:xfrm>
          <a:prstGeom prst="rect">
            <a:avLst/>
          </a:prstGeom>
          <a:noFill/>
        </p:spPr>
        <p:txBody>
          <a:bodyPr wrap="none">
            <a:spAutoFit/>
          </a:bodyPr>
          <a:lstStyle/>
          <a:p>
            <a:pPr>
              <a:defRPr sz="1100"/>
            </a:pPr>
            <a:r>
              <a:t>Cycle-wise rotational stiffness processing (fit uses theta &gt;= 0 deg; shared theta limits) for FBF.</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Step 6A: Moment-Theta Processing: Posterior Release</a:t>
            </a:r>
          </a:p>
        </p:txBody>
      </p:sp>
      <p:pic>
        <p:nvPicPr>
          <p:cNvPr id="3" name="Picture 2" descr="6___Posterior_Release_all_cycles_moment_theta.png"/>
          <p:cNvPicPr>
            <a:picLocks noChangeAspect="1"/>
          </p:cNvPicPr>
          <p:nvPr/>
        </p:nvPicPr>
        <p:blipFill>
          <a:blip r:embed="rId2"/>
          <a:stretch>
            <a:fillRect/>
          </a:stretch>
        </p:blipFill>
        <p:spPr>
          <a:xfrm>
            <a:off x="457200" y="822960"/>
            <a:ext cx="11247120" cy="12931853"/>
          </a:xfrm>
          <a:prstGeom prst="rect">
            <a:avLst/>
          </a:prstGeom>
        </p:spPr>
      </p:pic>
      <p:sp>
        <p:nvSpPr>
          <p:cNvPr id="4" name="TextBox 3"/>
          <p:cNvSpPr txBox="1"/>
          <p:nvPr/>
        </p:nvSpPr>
        <p:spPr>
          <a:xfrm>
            <a:off x="548640" y="6309360"/>
            <a:ext cx="11064240" cy="365760"/>
          </a:xfrm>
          <a:prstGeom prst="rect">
            <a:avLst/>
          </a:prstGeom>
          <a:noFill/>
        </p:spPr>
        <p:txBody>
          <a:bodyPr wrap="none">
            <a:spAutoFit/>
          </a:bodyPr>
          <a:lstStyle/>
          <a:p>
            <a:pPr>
              <a:defRPr sz="1100"/>
            </a:pPr>
            <a:r>
              <a:t>Cycle-wise rotational stiffness processing (fit uses theta &gt;= 0 deg; shared theta limits) for Posterior Release.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Step 6A: Moment-Theta Processing: SPO</a:t>
            </a:r>
          </a:p>
        </p:txBody>
      </p:sp>
      <p:pic>
        <p:nvPicPr>
          <p:cNvPr id="3" name="Picture 2" descr="7___SPO_all_cycles_moment_theta.png"/>
          <p:cNvPicPr>
            <a:picLocks noChangeAspect="1"/>
          </p:cNvPicPr>
          <p:nvPr/>
        </p:nvPicPr>
        <p:blipFill>
          <a:blip r:embed="rId2"/>
          <a:stretch>
            <a:fillRect/>
          </a:stretch>
        </p:blipFill>
        <p:spPr>
          <a:xfrm>
            <a:off x="457200" y="822960"/>
            <a:ext cx="11247120" cy="10345482"/>
          </a:xfrm>
          <a:prstGeom prst="rect">
            <a:avLst/>
          </a:prstGeom>
        </p:spPr>
      </p:pic>
      <p:sp>
        <p:nvSpPr>
          <p:cNvPr id="4" name="TextBox 3"/>
          <p:cNvSpPr txBox="1"/>
          <p:nvPr/>
        </p:nvSpPr>
        <p:spPr>
          <a:xfrm>
            <a:off x="548640" y="6309360"/>
            <a:ext cx="11064240" cy="365760"/>
          </a:xfrm>
          <a:prstGeom prst="rect">
            <a:avLst/>
          </a:prstGeom>
          <a:noFill/>
        </p:spPr>
        <p:txBody>
          <a:bodyPr wrap="none">
            <a:spAutoFit/>
          </a:bodyPr>
          <a:lstStyle/>
          <a:p>
            <a:pPr>
              <a:defRPr sz="1100"/>
            </a:pPr>
            <a:r>
              <a:t>Cycle-wise rotational stiffness processing (fit uses theta &gt;= 0 deg; shared theta limits) for SPO.</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Step 6B: Rotational Stiffness Results Across Interventions</a:t>
            </a:r>
          </a:p>
        </p:txBody>
      </p:sp>
      <p:pic>
        <p:nvPicPr>
          <p:cNvPr id="3" name="Picture 2" descr="all_interventions_moment_theta_stiffness_mean_std_bar_by_order.png"/>
          <p:cNvPicPr>
            <a:picLocks noChangeAspect="1"/>
          </p:cNvPicPr>
          <p:nvPr/>
        </p:nvPicPr>
        <p:blipFill>
          <a:blip r:embed="rId2"/>
          <a:stretch>
            <a:fillRect/>
          </a:stretch>
        </p:blipFill>
        <p:spPr>
          <a:xfrm>
            <a:off x="457200" y="1096212"/>
            <a:ext cx="11247120" cy="5578908"/>
          </a:xfrm>
          <a:prstGeom prst="rect">
            <a:avLst/>
          </a:prstGeom>
        </p:spPr>
      </p:pic>
      <p:sp>
        <p:nvSpPr>
          <p:cNvPr id="4" name="TextBox 3"/>
          <p:cNvSpPr txBox="1"/>
          <p:nvPr/>
        </p:nvSpPr>
        <p:spPr>
          <a:xfrm>
            <a:off x="548640" y="6309360"/>
            <a:ext cx="11064240" cy="365760"/>
          </a:xfrm>
          <a:prstGeom prst="rect">
            <a:avLst/>
          </a:prstGeom>
          <a:noFill/>
        </p:spPr>
        <p:txBody>
          <a:bodyPr wrap="none">
            <a:spAutoFit/>
          </a:bodyPr>
          <a:lstStyle/>
          <a:p>
            <a:pPr>
              <a:defRPr sz="1100"/>
            </a:pPr>
            <a:r>
              <a:t>Mean ± SD from valid cycles (moment-theta stiffness).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Rotational Stiffness Ranking</a:t>
            </a:r>
          </a:p>
        </p:txBody>
      </p:sp>
      <p:sp>
        <p:nvSpPr>
          <p:cNvPr id="3" name="TextBox 2"/>
          <p:cNvSpPr txBox="1"/>
          <p:nvPr/>
        </p:nvSpPr>
        <p:spPr>
          <a:xfrm>
            <a:off x="594360" y="868680"/>
            <a:ext cx="11064240" cy="5440680"/>
          </a:xfrm>
          <a:prstGeom prst="rect">
            <a:avLst/>
          </a:prstGeom>
          <a:noFill/>
        </p:spPr>
        <p:txBody>
          <a:bodyPr wrap="none">
            <a:spAutoFit/>
          </a:bodyPr>
          <a:lstStyle/>
          <a:p>
            <a:pPr>
              <a:defRPr sz="1200">
                <a:latin typeface="Consolas"/>
              </a:defRPr>
            </a:pPr>
            <a:r>
              <a:t>Step 6B Results: Moment-Theta Rotational Stiffness</a:t>
            </a:r>
          </a:p>
          <a:p>
            <a:pPr>
              <a:defRPr sz="1200">
                <a:latin typeface="Consolas"/>
              </a:defRPr>
            </a:pPr>
            <a:endParaRPr/>
          </a:p>
          <a:p>
            <a:pPr>
              <a:defRPr sz="1200">
                <a:latin typeface="Consolas"/>
              </a:defRPr>
            </a:pPr>
            <a:r>
              <a:t>Rank  Intervention            median [Nm/deg]   mean [Nm/deg]  n_valid/n_cycles</a:t>
            </a:r>
          </a:p>
          <a:p>
            <a:pPr>
              <a:defRPr sz="1200">
                <a:latin typeface="Consolas"/>
              </a:defRPr>
            </a:pPr>
            <a:r>
              <a:t>---------------------------------------------------------------------------</a:t>
            </a:r>
          </a:p>
          <a:p>
            <a:pPr>
              <a:defRPr sz="1200">
                <a:latin typeface="Consolas"/>
              </a:defRPr>
            </a:pPr>
            <a:r>
              <a:t>   1  SPO                            2.476          2.136     6/9</a:t>
            </a:r>
          </a:p>
          <a:p>
            <a:pPr>
              <a:defRPr sz="1200">
                <a:latin typeface="Consolas"/>
              </a:defRPr>
            </a:pPr>
            <a:r>
              <a:t>   2  FUF                            2.476          2.383     9/9</a:t>
            </a:r>
          </a:p>
          <a:p>
            <a:pPr>
              <a:defRPr sz="1200">
                <a:latin typeface="Consolas"/>
              </a:defRPr>
            </a:pPr>
            <a:r>
              <a:t>   3  Posterior Release              2.342          2.663     10/10</a:t>
            </a:r>
          </a:p>
          <a:p>
            <a:pPr>
              <a:defRPr sz="1200">
                <a:latin typeface="Consolas"/>
              </a:defRPr>
            </a:pPr>
            <a:r>
              <a:t>   4  PUF                            2.176          2.261     9/9</a:t>
            </a:r>
          </a:p>
          <a:p>
            <a:pPr>
              <a:defRPr sz="1200">
                <a:latin typeface="Consolas"/>
              </a:defRPr>
            </a:pPr>
            <a:r>
              <a:t>   5  FBF                            2.151          1.971     9/9</a:t>
            </a:r>
          </a:p>
          <a:p>
            <a:pPr>
              <a:defRPr sz="1200">
                <a:latin typeface="Consolas"/>
              </a:defRPr>
            </a:pPr>
            <a:r>
              <a:t>   6  Intact                         1.217          1.664     8/9</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Appended Update: Fit-Point Rules</a:t>
            </a:r>
          </a:p>
        </p:txBody>
      </p:sp>
      <p:sp>
        <p:nvSpPr>
          <p:cNvPr id="3" name="TextBox 2"/>
          <p:cNvSpPr txBox="1"/>
          <p:nvPr/>
        </p:nvSpPr>
        <p:spPr>
          <a:xfrm>
            <a:off x="731520" y="1325880"/>
            <a:ext cx="10881360" cy="5212080"/>
          </a:xfrm>
          <a:prstGeom prst="rect">
            <a:avLst/>
          </a:prstGeom>
          <a:noFill/>
        </p:spPr>
        <p:txBody>
          <a:bodyPr wrap="none">
            <a:spAutoFit/>
          </a:bodyPr>
          <a:lstStyle/>
          <a:p>
            <a:pPr>
              <a:defRPr sz="1900"/>
            </a:pPr>
            <a:r>
              <a:t>This version appends re-analysis results with explicit fit-point thresholds.</a:t>
            </a:r>
          </a:p>
          <a:p>
            <a:pPr>
              <a:defRPr sz="1900"/>
            </a:pPr>
            <a:r>
              <a:t>Displacement stiffness fitting: use only displacement &gt;= 0 mm points.</a:t>
            </a:r>
          </a:p>
          <a:p>
            <a:pPr>
              <a:defRPr sz="1900"/>
            </a:pPr>
            <a:r>
              <a:t>Rotational stiffness fitting: use only theta &gt;= 0 deg points.</a:t>
            </a:r>
          </a:p>
          <a:p>
            <a:pPr>
              <a:defRPr sz="1900"/>
            </a:pPr>
            <a:r>
              <a:t>All rankings/tables in this deck reflect these updated fit-selection rules.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Appendix: Filters Used</a:t>
            </a:r>
          </a:p>
        </p:txBody>
      </p:sp>
      <p:sp>
        <p:nvSpPr>
          <p:cNvPr id="3" name="TextBox 2"/>
          <p:cNvSpPr txBox="1"/>
          <p:nvPr/>
        </p:nvSpPr>
        <p:spPr>
          <a:xfrm>
            <a:off x="731521" y="1325880"/>
            <a:ext cx="11196140" cy="3539430"/>
          </a:xfrm>
          <a:prstGeom prst="rect">
            <a:avLst/>
          </a:prstGeom>
          <a:noFill/>
        </p:spPr>
        <p:txBody>
          <a:bodyPr wrap="square">
            <a:spAutoFit/>
          </a:bodyPr>
          <a:lstStyle/>
          <a:p>
            <a:pPr>
              <a:defRPr sz="1900"/>
            </a:pPr>
            <a:r>
              <a:rPr sz="1600" dirty="0"/>
              <a:t>Median filter (theta, kernel=5): replaces each sample with local median; removes isolated spikes while preserving step/ramp edges better than mean smoothing.</a:t>
            </a:r>
          </a:p>
          <a:p>
            <a:pPr>
              <a:defRPr sz="1900"/>
            </a:pPr>
            <a:r>
              <a:rPr sz="1600" dirty="0"/>
              <a:t>Butterworth low-pass (order=2): force cutoff=1.5 Hz, theta cutoff=1.2 Hz; attenuates high-frequency noise while preserving low-frequency cycle shape and phase reasonably well.</a:t>
            </a:r>
          </a:p>
          <a:p>
            <a:pPr>
              <a:defRPr sz="1900"/>
            </a:pPr>
            <a:r>
              <a:rPr sz="1600" dirty="0"/>
              <a:t>MAD </a:t>
            </a:r>
            <a:r>
              <a:rPr sz="1600" dirty="0" err="1"/>
              <a:t>despiking</a:t>
            </a:r>
            <a:r>
              <a:rPr sz="1600" dirty="0"/>
              <a:t> before low-pass: force window=11, z=3.5; theta window=15, z=3.5; robust outlier suppression using rolling median absolute deviation.</a:t>
            </a:r>
          </a:p>
          <a:p>
            <a:pPr>
              <a:defRPr sz="1900"/>
            </a:pPr>
            <a:r>
              <a:rPr sz="1600" dirty="0"/>
              <a:t>Pseudo-ramp rejection: keep cycles only if </a:t>
            </a:r>
            <a:r>
              <a:rPr sz="1600" dirty="0" err="1"/>
              <a:t>run_samples</a:t>
            </a:r>
            <a:r>
              <a:rPr sz="1600" dirty="0"/>
              <a:t>&gt;=30, </a:t>
            </a:r>
            <a:r>
              <a:rPr sz="1600" dirty="0" err="1"/>
              <a:t>rise_time</a:t>
            </a:r>
            <a:r>
              <a:rPr sz="1600" dirty="0"/>
              <a:t>&gt;=1.2 s, and </a:t>
            </a:r>
            <a:r>
              <a:rPr sz="1600" dirty="0" err="1"/>
              <a:t>theta_rise</a:t>
            </a:r>
            <a:r>
              <a:rPr sz="1600" dirty="0"/>
              <a:t>&gt;=0.2 deg.</a:t>
            </a:r>
          </a:p>
          <a:p>
            <a:pPr>
              <a:defRPr sz="1900"/>
            </a:pPr>
            <a:r>
              <a:rPr sz="1600" dirty="0"/>
              <a:t>Duplicate-peak merge: close peaks are clustered and only strongest candidate retained (time-gap bounds 2.5 to 10.0 s).</a:t>
            </a:r>
          </a:p>
          <a:p>
            <a:pPr>
              <a:defRPr sz="1900"/>
            </a:pPr>
            <a:r>
              <a:rPr sz="1600" dirty="0"/>
              <a:t>Theta0 calibration filter: estimate zero-angle from low-force samples (&lt;5% Fmax) but exclude low-force blocks with |median theta|&gt;1.0 deg.</a:t>
            </a:r>
          </a:p>
          <a:p>
            <a:pPr>
              <a:defRPr sz="1900"/>
            </a:pPr>
            <a:r>
              <a:rPr sz="1600" dirty="0"/>
              <a:t>Ramp-start theta snap: move force-based ramp start to nearest theta~0 in early ramp window (1.5 s), unless start is already non-neutral (|theta|&gt;1.5 deg).</a:t>
            </a:r>
          </a:p>
          <a:p>
            <a:pPr>
              <a:defRPr sz="1900"/>
            </a:pPr>
            <a:r>
              <a:rPr sz="1600" dirty="0"/>
              <a:t>Linear-fit point constraints: displacement fits use x&gt;=0 mm; moment-theta fits use theta&gt;=0 deg; flat low-slope segments removed before regression.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Key Takeaways</a:t>
            </a:r>
          </a:p>
        </p:txBody>
      </p:sp>
      <p:sp>
        <p:nvSpPr>
          <p:cNvPr id="3" name="TextBox 2"/>
          <p:cNvSpPr txBox="1"/>
          <p:nvPr/>
        </p:nvSpPr>
        <p:spPr>
          <a:xfrm>
            <a:off x="731520" y="1325880"/>
            <a:ext cx="10881360" cy="5212080"/>
          </a:xfrm>
          <a:prstGeom prst="rect">
            <a:avLst/>
          </a:prstGeom>
          <a:noFill/>
        </p:spPr>
        <p:txBody>
          <a:bodyPr wrap="none">
            <a:spAutoFit/>
          </a:bodyPr>
          <a:lstStyle/>
          <a:p>
            <a:pPr>
              <a:defRPr sz="1900"/>
            </a:pPr>
            <a:r>
              <a:t>Step-wise processing narrows from raw traces to quality-controlled cycles.</a:t>
            </a:r>
          </a:p>
          <a:p>
            <a:pPr>
              <a:defRPr sz="1900"/>
            </a:pPr>
            <a:r>
              <a:t>Results are reported in two complementary stiffness spaces:</a:t>
            </a:r>
          </a:p>
          <a:p>
            <a:pPr>
              <a:defRPr sz="1900"/>
            </a:pPr>
            <a:r>
              <a:t>force-tip (N/mm) and moment-theta (Nm/deg).</a:t>
            </a:r>
          </a:p>
          <a:p>
            <a:pPr>
              <a:defRPr sz="1900"/>
            </a:pPr>
            <a:r>
              <a:t>Rankings are based on median stiffness across valid cycles.</a:t>
            </a:r>
          </a:p>
          <a:p>
            <a:pPr>
              <a:defRPr sz="1900"/>
            </a:pPr>
            <a:r>
              <a:t>Fit-point constraints are displacement &gt;= 0 mm and theta &gt;= 0 deg.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35990-1CAB-9B1D-128E-CA7F982D79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8A6ED6-5F8B-EFFD-845B-ECFC3EE1022F}"/>
              </a:ext>
            </a:extLst>
          </p:cNvPr>
          <p:cNvSpPr>
            <a:spLocks noGrp="1"/>
          </p:cNvSpPr>
          <p:nvPr>
            <p:ph type="title"/>
          </p:nvPr>
        </p:nvSpPr>
        <p:spPr/>
        <p:txBody>
          <a:bodyPr/>
          <a:lstStyle/>
          <a:p>
            <a:endParaRPr lang="en-US" dirty="0"/>
          </a:p>
        </p:txBody>
      </p:sp>
      <p:pic>
        <p:nvPicPr>
          <p:cNvPr id="4" name="Picture 3">
            <a:extLst>
              <a:ext uri="{FF2B5EF4-FFF2-40B4-BE49-F238E27FC236}">
                <a16:creationId xmlns:a16="http://schemas.microsoft.com/office/drawing/2014/main" id="{B867964B-824E-5508-E1E2-D26AB3B76A5F}"/>
              </a:ext>
            </a:extLst>
          </p:cNvPr>
          <p:cNvPicPr>
            <a:picLocks noChangeAspect="1"/>
          </p:cNvPicPr>
          <p:nvPr/>
        </p:nvPicPr>
        <p:blipFill>
          <a:blip r:embed="rId2"/>
          <a:stretch>
            <a:fillRect/>
          </a:stretch>
        </p:blipFill>
        <p:spPr>
          <a:xfrm>
            <a:off x="1545027" y="0"/>
            <a:ext cx="9101945" cy="6858000"/>
          </a:xfrm>
          <a:prstGeom prst="rect">
            <a:avLst/>
          </a:prstGeom>
        </p:spPr>
      </p:pic>
    </p:spTree>
    <p:extLst>
      <p:ext uri="{BB962C8B-B14F-4D97-AF65-F5344CB8AC3E}">
        <p14:creationId xmlns:p14="http://schemas.microsoft.com/office/powerpoint/2010/main" val="15993643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BC1DB-6F8D-46AA-98AD-79688E1E52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BEBDE4-CA11-C0F8-CE1D-CFF26E1EE2FA}"/>
              </a:ext>
            </a:extLst>
          </p:cNvPr>
          <p:cNvSpPr>
            <a:spLocks noGrp="1"/>
          </p:cNvSpPr>
          <p:nvPr>
            <p:ph type="title"/>
          </p:nvPr>
        </p:nvSpPr>
        <p:spPr>
          <a:xfrm>
            <a:off x="457200" y="227566"/>
            <a:ext cx="8229600" cy="1143000"/>
          </a:xfrm>
        </p:spPr>
        <p:txBody>
          <a:bodyPr/>
          <a:lstStyle/>
          <a:p>
            <a:r>
              <a:rPr lang="en-US" sz="2600" b="1" dirty="0"/>
              <a:t>MTS Flexion/Extension – All </a:t>
            </a:r>
            <a:r>
              <a:rPr sz="2600" b="1" dirty="0"/>
              <a:t>Intervention</a:t>
            </a:r>
            <a:r>
              <a:rPr lang="en-US" sz="2600" b="1" dirty="0"/>
              <a:t>s</a:t>
            </a:r>
            <a:endParaRPr sz="2600" b="1" dirty="0"/>
          </a:p>
        </p:txBody>
      </p:sp>
      <p:pic>
        <p:nvPicPr>
          <p:cNvPr id="5" name="Picture 4">
            <a:extLst>
              <a:ext uri="{FF2B5EF4-FFF2-40B4-BE49-F238E27FC236}">
                <a16:creationId xmlns:a16="http://schemas.microsoft.com/office/drawing/2014/main" id="{A82E18ED-EBEA-5E47-AC09-1F3D20049657}"/>
              </a:ext>
            </a:extLst>
          </p:cNvPr>
          <p:cNvPicPr>
            <a:picLocks noChangeAspect="1"/>
          </p:cNvPicPr>
          <p:nvPr/>
        </p:nvPicPr>
        <p:blipFill>
          <a:blip r:embed="rId2"/>
          <a:stretch>
            <a:fillRect/>
          </a:stretch>
        </p:blipFill>
        <p:spPr>
          <a:xfrm>
            <a:off x="457200" y="1346076"/>
            <a:ext cx="4694453" cy="3489013"/>
          </a:xfrm>
          <a:prstGeom prst="rect">
            <a:avLst/>
          </a:prstGeom>
        </p:spPr>
      </p:pic>
      <p:cxnSp>
        <p:nvCxnSpPr>
          <p:cNvPr id="4" name="Straight Arrow Connector 3">
            <a:extLst>
              <a:ext uri="{FF2B5EF4-FFF2-40B4-BE49-F238E27FC236}">
                <a16:creationId xmlns:a16="http://schemas.microsoft.com/office/drawing/2014/main" id="{1AE50976-CF7E-D915-7D30-A09547E094DD}"/>
              </a:ext>
            </a:extLst>
          </p:cNvPr>
          <p:cNvCxnSpPr>
            <a:cxnSpLocks/>
          </p:cNvCxnSpPr>
          <p:nvPr/>
        </p:nvCxnSpPr>
        <p:spPr>
          <a:xfrm flipV="1">
            <a:off x="1486894" y="3260035"/>
            <a:ext cx="580447" cy="167772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6" name="TextBox 5">
            <a:extLst>
              <a:ext uri="{FF2B5EF4-FFF2-40B4-BE49-F238E27FC236}">
                <a16:creationId xmlns:a16="http://schemas.microsoft.com/office/drawing/2014/main" id="{A771C8B4-54B0-384D-6A12-1EDC8E8905D4}"/>
              </a:ext>
            </a:extLst>
          </p:cNvPr>
          <p:cNvSpPr txBox="1"/>
          <p:nvPr/>
        </p:nvSpPr>
        <p:spPr>
          <a:xfrm>
            <a:off x="344994" y="5090246"/>
            <a:ext cx="2864246"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dirty="0"/>
              <a:t>similar stiffness up to ~8 deg</a:t>
            </a:r>
          </a:p>
        </p:txBody>
      </p:sp>
      <p:sp>
        <p:nvSpPr>
          <p:cNvPr id="9" name="TextBox 8">
            <a:extLst>
              <a:ext uri="{FF2B5EF4-FFF2-40B4-BE49-F238E27FC236}">
                <a16:creationId xmlns:a16="http://schemas.microsoft.com/office/drawing/2014/main" id="{42E9E655-2EBF-45E2-6B66-6D8AC98BEB4C}"/>
              </a:ext>
            </a:extLst>
          </p:cNvPr>
          <p:cNvSpPr txBox="1"/>
          <p:nvPr/>
        </p:nvSpPr>
        <p:spPr>
          <a:xfrm>
            <a:off x="5272195" y="1905762"/>
            <a:ext cx="6662713" cy="1200329"/>
          </a:xfrm>
          <a:prstGeom prst="rect">
            <a:avLst/>
          </a:prstGeom>
          <a:noFill/>
        </p:spPr>
        <p:txBody>
          <a:bodyPr wrap="square" rtlCol="0">
            <a:spAutoFit/>
          </a:bodyPr>
          <a:lstStyle/>
          <a:p>
            <a:pPr marL="285750" indent="-285750">
              <a:buFont typeface="Arial" panose="020B0604020202020204" pitchFamily="34" charset="0"/>
              <a:buChar char="•"/>
            </a:pPr>
            <a:r>
              <a:rPr lang="en-US" dirty="0"/>
              <a:t>PLL release and SPO significantly decreased extension stiffness</a:t>
            </a:r>
          </a:p>
          <a:p>
            <a:pPr marL="285750" indent="-285750">
              <a:buFont typeface="Arial" panose="020B0604020202020204" pitchFamily="34" charset="0"/>
              <a:buChar char="•"/>
            </a:pPr>
            <a:r>
              <a:rPr lang="en-US" dirty="0"/>
              <a:t>Surprising to see PLL release had a large impact </a:t>
            </a:r>
          </a:p>
          <a:p>
            <a:pPr marL="285750" indent="-285750">
              <a:buFont typeface="Arial" panose="020B0604020202020204" pitchFamily="34" charset="0"/>
              <a:buChar char="•"/>
            </a:pPr>
            <a:r>
              <a:rPr lang="en-US" dirty="0"/>
              <a:t>Facetectomy decreased it as well but to a lesser extent</a:t>
            </a:r>
          </a:p>
          <a:p>
            <a:pPr marL="285750" indent="-285750">
              <a:buFont typeface="Arial" panose="020B0604020202020204" pitchFamily="34" charset="0"/>
              <a:buChar char="•"/>
            </a:pPr>
            <a:r>
              <a:rPr lang="en-US" dirty="0"/>
              <a:t>Continuous loss of stability with increasing bony/tissue resections</a:t>
            </a:r>
          </a:p>
        </p:txBody>
      </p:sp>
      <p:sp>
        <p:nvSpPr>
          <p:cNvPr id="16" name="TextBox 15">
            <a:extLst>
              <a:ext uri="{FF2B5EF4-FFF2-40B4-BE49-F238E27FC236}">
                <a16:creationId xmlns:a16="http://schemas.microsoft.com/office/drawing/2014/main" id="{213BFB4B-F531-C62D-D715-C23C326BF416}"/>
              </a:ext>
            </a:extLst>
          </p:cNvPr>
          <p:cNvSpPr txBox="1"/>
          <p:nvPr/>
        </p:nvSpPr>
        <p:spPr>
          <a:xfrm>
            <a:off x="2067341" y="4170509"/>
            <a:ext cx="681824" cy="27699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t>Flexion</a:t>
            </a:r>
          </a:p>
        </p:txBody>
      </p:sp>
      <p:sp>
        <p:nvSpPr>
          <p:cNvPr id="18" name="TextBox 17">
            <a:extLst>
              <a:ext uri="{FF2B5EF4-FFF2-40B4-BE49-F238E27FC236}">
                <a16:creationId xmlns:a16="http://schemas.microsoft.com/office/drawing/2014/main" id="{19B6ADDB-4392-D4A7-813C-7E78DF25FC8F}"/>
              </a:ext>
            </a:extLst>
          </p:cNvPr>
          <p:cNvSpPr txBox="1"/>
          <p:nvPr/>
        </p:nvSpPr>
        <p:spPr>
          <a:xfrm>
            <a:off x="4283433" y="2631868"/>
            <a:ext cx="789499" cy="27699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t>Extension</a:t>
            </a:r>
          </a:p>
        </p:txBody>
      </p:sp>
      <p:sp>
        <p:nvSpPr>
          <p:cNvPr id="8" name="TextBox 7">
            <a:extLst>
              <a:ext uri="{FF2B5EF4-FFF2-40B4-BE49-F238E27FC236}">
                <a16:creationId xmlns:a16="http://schemas.microsoft.com/office/drawing/2014/main" id="{3C6D2B87-DEC2-701E-AFEB-6C1FDA201C02}"/>
              </a:ext>
            </a:extLst>
          </p:cNvPr>
          <p:cNvSpPr txBox="1"/>
          <p:nvPr/>
        </p:nvSpPr>
        <p:spPr>
          <a:xfrm>
            <a:off x="5272194" y="3441111"/>
            <a:ext cx="6551395" cy="923330"/>
          </a:xfrm>
          <a:prstGeom prst="rect">
            <a:avLst/>
          </a:prstGeom>
          <a:noFill/>
        </p:spPr>
        <p:txBody>
          <a:bodyPr wrap="square">
            <a:spAutoFit/>
          </a:bodyPr>
          <a:lstStyle/>
          <a:p>
            <a:pPr marL="285750" indent="-285750">
              <a:buFont typeface="Arial" panose="020B0604020202020204" pitchFamily="34" charset="0"/>
              <a:buChar char="•"/>
            </a:pPr>
            <a:r>
              <a:rPr lang="en-US" dirty="0"/>
              <a:t>For all interventions, stiffness</a:t>
            </a:r>
            <a:r>
              <a:rPr lang="en-US" sz="1800" dirty="0"/>
              <a:t> is unchanged until around 8 deg</a:t>
            </a:r>
            <a:endParaRPr lang="en-US" dirty="0"/>
          </a:p>
          <a:p>
            <a:pPr marL="285750" indent="-285750">
              <a:buFont typeface="Arial" panose="020B0604020202020204" pitchFamily="34" charset="0"/>
              <a:buChar char="•"/>
            </a:pPr>
            <a:r>
              <a:rPr lang="en-US" sz="1800" dirty="0"/>
              <a:t>Facetectomy lowers stiffness afterwards</a:t>
            </a:r>
          </a:p>
          <a:p>
            <a:pPr marL="285750" indent="-285750">
              <a:buFont typeface="Arial" panose="020B0604020202020204" pitchFamily="34" charset="0"/>
              <a:buChar char="•"/>
            </a:pPr>
            <a:r>
              <a:rPr lang="en-US" dirty="0"/>
              <a:t>Surprising to see PLL removal did not decrease stiffness</a:t>
            </a:r>
            <a:r>
              <a:rPr lang="en-US" sz="1800" dirty="0"/>
              <a:t>                    </a:t>
            </a:r>
          </a:p>
        </p:txBody>
      </p:sp>
      <p:sp>
        <p:nvSpPr>
          <p:cNvPr id="11" name="TextBox 10">
            <a:extLst>
              <a:ext uri="{FF2B5EF4-FFF2-40B4-BE49-F238E27FC236}">
                <a16:creationId xmlns:a16="http://schemas.microsoft.com/office/drawing/2014/main" id="{8A207408-5422-8981-5696-7D27230C0A2E}"/>
              </a:ext>
            </a:extLst>
          </p:cNvPr>
          <p:cNvSpPr txBox="1"/>
          <p:nvPr/>
        </p:nvSpPr>
        <p:spPr>
          <a:xfrm>
            <a:off x="5272195" y="1510672"/>
            <a:ext cx="1433781" cy="369332"/>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a:spAutoFit/>
          </a:bodyPr>
          <a:lstStyle/>
          <a:p>
            <a:r>
              <a:rPr lang="en-US" b="1" dirty="0"/>
              <a:t>Extension</a:t>
            </a:r>
          </a:p>
        </p:txBody>
      </p:sp>
      <p:sp>
        <p:nvSpPr>
          <p:cNvPr id="14" name="TextBox 13">
            <a:extLst>
              <a:ext uri="{FF2B5EF4-FFF2-40B4-BE49-F238E27FC236}">
                <a16:creationId xmlns:a16="http://schemas.microsoft.com/office/drawing/2014/main" id="{6C6A6108-F44A-1D90-EEC8-71C798DE2AC2}"/>
              </a:ext>
            </a:extLst>
          </p:cNvPr>
          <p:cNvSpPr txBox="1"/>
          <p:nvPr/>
        </p:nvSpPr>
        <p:spPr>
          <a:xfrm>
            <a:off x="5272195" y="3084301"/>
            <a:ext cx="1433781" cy="369332"/>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a:spAutoFit/>
          </a:bodyPr>
          <a:lstStyle/>
          <a:p>
            <a:r>
              <a:rPr lang="en-US" b="1" dirty="0"/>
              <a:t>Flexion</a:t>
            </a:r>
          </a:p>
        </p:txBody>
      </p:sp>
    </p:spTree>
    <p:extLst>
      <p:ext uri="{BB962C8B-B14F-4D97-AF65-F5344CB8AC3E}">
        <p14:creationId xmlns:p14="http://schemas.microsoft.com/office/powerpoint/2010/main" val="22644638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D635E-422D-1F81-2350-2984B782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695DD5-399F-9A33-A261-32F91D4D785A}"/>
              </a:ext>
            </a:extLst>
          </p:cNvPr>
          <p:cNvSpPr>
            <a:spLocks noGrp="1"/>
          </p:cNvSpPr>
          <p:nvPr>
            <p:ph type="title"/>
          </p:nvPr>
        </p:nvSpPr>
        <p:spPr/>
        <p:txBody>
          <a:bodyPr/>
          <a:lstStyle/>
          <a:p>
            <a:r>
              <a:rPr sz="2600" b="1"/>
              <a:t>MTS FE (Native Axes): Extension 0-5 and Flexion 0 to -5 Nm Secant Fit Panels</a:t>
            </a:r>
          </a:p>
        </p:txBody>
      </p:sp>
      <p:pic>
        <p:nvPicPr>
          <p:cNvPr id="3" name="Picture 2" descr="mts_flexion_0to5_secant_fit_panels.png">
            <a:extLst>
              <a:ext uri="{FF2B5EF4-FFF2-40B4-BE49-F238E27FC236}">
                <a16:creationId xmlns:a16="http://schemas.microsoft.com/office/drawing/2014/main" id="{7B72A5A0-B022-B8F3-4279-AFC695FBE49E}"/>
              </a:ext>
            </a:extLst>
          </p:cNvPr>
          <p:cNvPicPr>
            <a:picLocks noChangeAspect="1"/>
          </p:cNvPicPr>
          <p:nvPr/>
        </p:nvPicPr>
        <p:blipFill>
          <a:blip r:embed="rId2"/>
          <a:stretch>
            <a:fillRect/>
          </a:stretch>
        </p:blipFill>
        <p:spPr>
          <a:xfrm>
            <a:off x="457200" y="822960"/>
            <a:ext cx="11247120" cy="5431378"/>
          </a:xfrm>
          <a:prstGeom prst="rect">
            <a:avLst/>
          </a:prstGeom>
        </p:spPr>
      </p:pic>
    </p:spTree>
    <p:extLst>
      <p:ext uri="{BB962C8B-B14F-4D97-AF65-F5344CB8AC3E}">
        <p14:creationId xmlns:p14="http://schemas.microsoft.com/office/powerpoint/2010/main" val="30916939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0B3FD-7AC8-755A-E6C3-9A2DC0F782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4F6E6-1A19-6F0A-1FCF-3DF67927C1D4}"/>
              </a:ext>
            </a:extLst>
          </p:cNvPr>
          <p:cNvSpPr>
            <a:spLocks noGrp="1"/>
          </p:cNvSpPr>
          <p:nvPr>
            <p:ph type="title"/>
          </p:nvPr>
        </p:nvSpPr>
        <p:spPr/>
        <p:txBody>
          <a:bodyPr/>
          <a:lstStyle/>
          <a:p>
            <a:r>
              <a:rPr sz="2600" b="1" dirty="0"/>
              <a:t>MTS Flexion: </a:t>
            </a:r>
            <a:r>
              <a:rPr lang="en-US" sz="2600" b="1" dirty="0"/>
              <a:t>Comparison of Different Stiffness Metrics</a:t>
            </a:r>
            <a:endParaRPr sz="2600" b="1" dirty="0"/>
          </a:p>
        </p:txBody>
      </p:sp>
      <p:pic>
        <p:nvPicPr>
          <p:cNvPr id="7" name="Picture 6">
            <a:extLst>
              <a:ext uri="{FF2B5EF4-FFF2-40B4-BE49-F238E27FC236}">
                <a16:creationId xmlns:a16="http://schemas.microsoft.com/office/drawing/2014/main" id="{C0AA7F0E-8E77-E5EB-10B4-8B8F494D91DB}"/>
              </a:ext>
            </a:extLst>
          </p:cNvPr>
          <p:cNvPicPr>
            <a:picLocks noChangeAspect="1"/>
          </p:cNvPicPr>
          <p:nvPr/>
        </p:nvPicPr>
        <p:blipFill>
          <a:blip r:embed="rId2"/>
          <a:stretch>
            <a:fillRect/>
          </a:stretch>
        </p:blipFill>
        <p:spPr>
          <a:xfrm>
            <a:off x="457200" y="1417638"/>
            <a:ext cx="4300753" cy="3196407"/>
          </a:xfrm>
          <a:prstGeom prst="rect">
            <a:avLst/>
          </a:prstGeom>
        </p:spPr>
      </p:pic>
      <p:sp>
        <p:nvSpPr>
          <p:cNvPr id="4" name="TextBox 3">
            <a:extLst>
              <a:ext uri="{FF2B5EF4-FFF2-40B4-BE49-F238E27FC236}">
                <a16:creationId xmlns:a16="http://schemas.microsoft.com/office/drawing/2014/main" id="{FF83877B-1FA8-A45E-8358-91854311986E}"/>
              </a:ext>
            </a:extLst>
          </p:cNvPr>
          <p:cNvSpPr txBox="1"/>
          <p:nvPr/>
        </p:nvSpPr>
        <p:spPr>
          <a:xfrm>
            <a:off x="1847520" y="4030662"/>
            <a:ext cx="681824" cy="27699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t>Flexion</a:t>
            </a:r>
          </a:p>
        </p:txBody>
      </p:sp>
      <p:sp>
        <p:nvSpPr>
          <p:cNvPr id="6" name="TextBox 5">
            <a:extLst>
              <a:ext uri="{FF2B5EF4-FFF2-40B4-BE49-F238E27FC236}">
                <a16:creationId xmlns:a16="http://schemas.microsoft.com/office/drawing/2014/main" id="{6FF6CD00-8C23-3D5A-4808-BFB412360ACA}"/>
              </a:ext>
            </a:extLst>
          </p:cNvPr>
          <p:cNvSpPr txBox="1"/>
          <p:nvPr/>
        </p:nvSpPr>
        <p:spPr>
          <a:xfrm>
            <a:off x="3888683" y="2560638"/>
            <a:ext cx="789499" cy="27699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t>Extension</a:t>
            </a:r>
          </a:p>
        </p:txBody>
      </p:sp>
      <p:pic>
        <p:nvPicPr>
          <p:cNvPr id="11" name="Picture 10" descr="mts_flexion_stiffness_four_methods_bar.png">
            <a:extLst>
              <a:ext uri="{FF2B5EF4-FFF2-40B4-BE49-F238E27FC236}">
                <a16:creationId xmlns:a16="http://schemas.microsoft.com/office/drawing/2014/main" id="{C9914700-B935-4F58-D159-448EC2AD326E}"/>
              </a:ext>
            </a:extLst>
          </p:cNvPr>
          <p:cNvPicPr>
            <a:picLocks noChangeAspect="1"/>
          </p:cNvPicPr>
          <p:nvPr/>
        </p:nvPicPr>
        <p:blipFill>
          <a:blip r:embed="rId3"/>
          <a:stretch>
            <a:fillRect/>
          </a:stretch>
        </p:blipFill>
        <p:spPr>
          <a:xfrm>
            <a:off x="5234942" y="3820072"/>
            <a:ext cx="4918524" cy="2357032"/>
          </a:xfrm>
          <a:prstGeom prst="rect">
            <a:avLst/>
          </a:prstGeom>
        </p:spPr>
      </p:pic>
      <p:pic>
        <p:nvPicPr>
          <p:cNvPr id="13" name="Picture 12" descr="mts_extension_stiffness_four_methods_bar.png">
            <a:extLst>
              <a:ext uri="{FF2B5EF4-FFF2-40B4-BE49-F238E27FC236}">
                <a16:creationId xmlns:a16="http://schemas.microsoft.com/office/drawing/2014/main" id="{E2626C1F-884D-D64F-6938-9222F452AA1D}"/>
              </a:ext>
            </a:extLst>
          </p:cNvPr>
          <p:cNvPicPr>
            <a:picLocks noChangeAspect="1"/>
          </p:cNvPicPr>
          <p:nvPr/>
        </p:nvPicPr>
        <p:blipFill>
          <a:blip r:embed="rId4"/>
          <a:stretch>
            <a:fillRect/>
          </a:stretch>
        </p:blipFill>
        <p:spPr>
          <a:xfrm>
            <a:off x="5234942" y="1417638"/>
            <a:ext cx="4918524" cy="2357032"/>
          </a:xfrm>
          <a:prstGeom prst="rect">
            <a:avLst/>
          </a:prstGeom>
        </p:spPr>
      </p:pic>
    </p:spTree>
    <p:extLst>
      <p:ext uri="{BB962C8B-B14F-4D97-AF65-F5344CB8AC3E}">
        <p14:creationId xmlns:p14="http://schemas.microsoft.com/office/powerpoint/2010/main" val="2814421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632FD-8135-0EF7-3F97-A7F46E0197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23BDA7-8A55-1F88-316D-24846A832EBC}"/>
              </a:ext>
            </a:extLst>
          </p:cNvPr>
          <p:cNvSpPr>
            <a:spLocks noGrp="1"/>
          </p:cNvSpPr>
          <p:nvPr>
            <p:ph type="title"/>
          </p:nvPr>
        </p:nvSpPr>
        <p:spPr>
          <a:xfrm>
            <a:off x="457200" y="274638"/>
            <a:ext cx="9931400" cy="1143000"/>
          </a:xfrm>
        </p:spPr>
        <p:txBody>
          <a:bodyPr>
            <a:normAutofit/>
          </a:bodyPr>
          <a:lstStyle/>
          <a:p>
            <a:r>
              <a:rPr lang="en-US" dirty="0"/>
              <a:t>Intervention Effect For Flexion</a:t>
            </a:r>
          </a:p>
        </p:txBody>
      </p:sp>
      <p:pic>
        <p:nvPicPr>
          <p:cNvPr id="6" name="Picture 5">
            <a:extLst>
              <a:ext uri="{FF2B5EF4-FFF2-40B4-BE49-F238E27FC236}">
                <a16:creationId xmlns:a16="http://schemas.microsoft.com/office/drawing/2014/main" id="{6E4FF4F2-2C8C-D424-6861-C1AAD49B9065}"/>
              </a:ext>
            </a:extLst>
          </p:cNvPr>
          <p:cNvPicPr>
            <a:picLocks noChangeAspect="1"/>
          </p:cNvPicPr>
          <p:nvPr/>
        </p:nvPicPr>
        <p:blipFill>
          <a:blip r:embed="rId2"/>
          <a:stretch>
            <a:fillRect/>
          </a:stretch>
        </p:blipFill>
        <p:spPr>
          <a:xfrm>
            <a:off x="782962" y="1692629"/>
            <a:ext cx="9349419" cy="4012073"/>
          </a:xfrm>
          <a:prstGeom prst="rect">
            <a:avLst/>
          </a:prstGeom>
        </p:spPr>
      </p:pic>
    </p:spTree>
    <p:extLst>
      <p:ext uri="{BB962C8B-B14F-4D97-AF65-F5344CB8AC3E}">
        <p14:creationId xmlns:p14="http://schemas.microsoft.com/office/powerpoint/2010/main" val="30877964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D0FE2-36BD-C2BB-EB9A-550FC6E64A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D4627D-95CB-9453-467A-453BD398D432}"/>
              </a:ext>
            </a:extLst>
          </p:cNvPr>
          <p:cNvSpPr>
            <a:spLocks noGrp="1"/>
          </p:cNvSpPr>
          <p:nvPr>
            <p:ph type="title"/>
          </p:nvPr>
        </p:nvSpPr>
        <p:spPr/>
        <p:txBody>
          <a:bodyPr/>
          <a:lstStyle/>
          <a:p>
            <a:r>
              <a:rPr lang="en-US" dirty="0"/>
              <a:t>Brainstorming – Model Scaling</a:t>
            </a:r>
          </a:p>
        </p:txBody>
      </p:sp>
      <p:sp>
        <p:nvSpPr>
          <p:cNvPr id="4" name="TextBox 3">
            <a:extLst>
              <a:ext uri="{FF2B5EF4-FFF2-40B4-BE49-F238E27FC236}">
                <a16:creationId xmlns:a16="http://schemas.microsoft.com/office/drawing/2014/main" id="{D919982E-76CC-B51B-2759-F41D7E970DE4}"/>
              </a:ext>
            </a:extLst>
          </p:cNvPr>
          <p:cNvSpPr txBox="1"/>
          <p:nvPr/>
        </p:nvSpPr>
        <p:spPr>
          <a:xfrm>
            <a:off x="544663" y="1444942"/>
            <a:ext cx="10269111" cy="5078313"/>
          </a:xfrm>
          <a:prstGeom prst="rect">
            <a:avLst/>
          </a:prstGeom>
          <a:noFill/>
        </p:spPr>
        <p:txBody>
          <a:bodyPr wrap="square">
            <a:spAutoFit/>
          </a:bodyPr>
          <a:lstStyle/>
          <a:p>
            <a:pPr marL="0" marR="0">
              <a:buNone/>
            </a:pPr>
            <a:r>
              <a:rPr lang="en-US" b="1" dirty="0">
                <a:effectLst/>
                <a:latin typeface="Calibri" panose="020F0502020204030204" pitchFamily="34" charset="0"/>
              </a:rPr>
              <a:t>Question 1:</a:t>
            </a:r>
            <a:r>
              <a:rPr lang="en-US" dirty="0">
                <a:effectLst/>
                <a:latin typeface="Calibri" panose="020F0502020204030204" pitchFamily="34" charset="0"/>
              </a:rPr>
              <a:t> Does lamina </a:t>
            </a:r>
            <a:r>
              <a:rPr lang="en-US" dirty="0">
                <a:latin typeface="Calibri" panose="020F0502020204030204" pitchFamily="34" charset="0"/>
              </a:rPr>
              <a:t>spreader reliably </a:t>
            </a:r>
            <a:r>
              <a:rPr lang="en-US" dirty="0">
                <a:effectLst/>
                <a:latin typeface="Calibri" panose="020F0502020204030204" pitchFamily="34" charset="0"/>
              </a:rPr>
              <a:t>characterize segment stiffness?</a:t>
            </a:r>
          </a:p>
          <a:p>
            <a:pPr marL="0" marR="0">
              <a:buNone/>
            </a:pPr>
            <a:r>
              <a:rPr lang="en-US" dirty="0">
                <a:effectLst/>
                <a:latin typeface="Calibri" panose="020F0502020204030204" pitchFamily="34" charset="0"/>
              </a:rPr>
              <a:t> </a:t>
            </a:r>
          </a:p>
          <a:p>
            <a:pPr marL="0" marR="0">
              <a:buNone/>
            </a:pPr>
            <a:r>
              <a:rPr lang="en-US" dirty="0">
                <a:effectLst/>
                <a:latin typeface="Calibri" panose="020F0502020204030204" pitchFamily="34" charset="0"/>
              </a:rPr>
              <a:t>We’ll compare motion segment testing data </a:t>
            </a:r>
            <a:r>
              <a:rPr lang="en-US" b="1" dirty="0">
                <a:effectLst/>
                <a:latin typeface="Calibri" panose="020F0502020204030204" pitchFamily="34" charset="0"/>
              </a:rPr>
              <a:t>for flexion</a:t>
            </a:r>
            <a:r>
              <a:rPr lang="en-US" dirty="0">
                <a:effectLst/>
                <a:latin typeface="Calibri" panose="020F0502020204030204" pitchFamily="34" charset="0"/>
              </a:rPr>
              <a:t> between lamina spreader and traditional testing. If they are highly correlated, we can use spreader measurements as a proxy to joint stiffness. For example, we can then estimate motion segment stiffness using spreader.</a:t>
            </a:r>
          </a:p>
          <a:p>
            <a:pPr marL="0" marR="0">
              <a:buNone/>
            </a:pPr>
            <a:r>
              <a:rPr lang="en-US" dirty="0">
                <a:effectLst/>
                <a:latin typeface="Calibri" panose="020F0502020204030204" pitchFamily="34" charset="0"/>
              </a:rPr>
              <a:t> </a:t>
            </a:r>
          </a:p>
          <a:p>
            <a:pPr marL="0" marR="0">
              <a:buNone/>
            </a:pPr>
            <a:r>
              <a:rPr lang="en-US" b="1" dirty="0">
                <a:effectLst/>
                <a:latin typeface="Calibri" panose="020F0502020204030204" pitchFamily="34" charset="0"/>
              </a:rPr>
              <a:t>Question 2: </a:t>
            </a:r>
            <a:r>
              <a:rPr lang="en-US" dirty="0">
                <a:effectLst/>
                <a:latin typeface="Calibri" panose="020F0502020204030204" pitchFamily="34" charset="0"/>
              </a:rPr>
              <a:t>How do we quantify the impact of interventions on intact motion segments?</a:t>
            </a:r>
          </a:p>
          <a:p>
            <a:pPr marL="0" marR="0">
              <a:buNone/>
            </a:pPr>
            <a:r>
              <a:rPr lang="en-US" dirty="0">
                <a:effectLst/>
                <a:latin typeface="Calibri" panose="020F0502020204030204" pitchFamily="34" charset="0"/>
              </a:rPr>
              <a:t> </a:t>
            </a:r>
          </a:p>
          <a:p>
            <a:pPr marL="0" marR="0">
              <a:buNone/>
            </a:pPr>
            <a:r>
              <a:rPr lang="en-US" dirty="0">
                <a:effectLst/>
                <a:latin typeface="Calibri" panose="020F0502020204030204" pitchFamily="34" charset="0"/>
              </a:rPr>
              <a:t>We’ll use traditional testing data to quantify the impact of interventions on intact motion segments. We’ll </a:t>
            </a:r>
            <a:r>
              <a:rPr lang="en-US" dirty="0">
                <a:latin typeface="Calibri" panose="020F0502020204030204" pitchFamily="34" charset="0"/>
              </a:rPr>
              <a:t>only use </a:t>
            </a:r>
            <a:r>
              <a:rPr lang="en-US" dirty="0">
                <a:effectLst/>
                <a:latin typeface="Calibri" panose="020F0502020204030204" pitchFamily="34" charset="0"/>
              </a:rPr>
              <a:t>spreader if </a:t>
            </a:r>
            <a:r>
              <a:rPr lang="en-US" b="1" dirty="0">
                <a:effectLst/>
                <a:latin typeface="Calibri" panose="020F0502020204030204" pitchFamily="34" charset="0"/>
              </a:rPr>
              <a:t>patient-specific assessment of the impact of interventions on stability</a:t>
            </a:r>
            <a:r>
              <a:rPr lang="en-US" dirty="0">
                <a:effectLst/>
                <a:latin typeface="Calibri" panose="020F0502020204030204" pitchFamily="34" charset="0"/>
              </a:rPr>
              <a:t> is required. </a:t>
            </a:r>
            <a:r>
              <a:rPr lang="en-US" dirty="0">
                <a:latin typeface="Calibri" panose="020F0502020204030204" pitchFamily="34" charset="0"/>
              </a:rPr>
              <a:t>It’s technically not feasible to measure lateral bending and axial rotation using spreader.</a:t>
            </a:r>
            <a:endParaRPr lang="en-US" dirty="0">
              <a:effectLst/>
              <a:latin typeface="Calibri" panose="020F0502020204030204" pitchFamily="34" charset="0"/>
            </a:endParaRPr>
          </a:p>
          <a:p>
            <a:pPr marL="0" marR="0">
              <a:buNone/>
            </a:pPr>
            <a:r>
              <a:rPr lang="en-US" dirty="0">
                <a:effectLst/>
                <a:latin typeface="Calibri" panose="020F0502020204030204" pitchFamily="34" charset="0"/>
              </a:rPr>
              <a:t> </a:t>
            </a:r>
          </a:p>
          <a:p>
            <a:r>
              <a:rPr lang="en-US" b="1" dirty="0">
                <a:effectLst/>
                <a:latin typeface="Calibri" panose="020F0502020204030204" pitchFamily="34" charset="0"/>
              </a:rPr>
              <a:t>Question 3</a:t>
            </a:r>
            <a:r>
              <a:rPr lang="en-US" dirty="0">
                <a:effectLst/>
                <a:latin typeface="Calibri" panose="020F0502020204030204" pitchFamily="34" charset="0"/>
              </a:rPr>
              <a:t>: How do we </a:t>
            </a:r>
            <a:r>
              <a:rPr lang="en-US" dirty="0">
                <a:latin typeface="Calibri" panose="020F0502020204030204" pitchFamily="34" charset="0"/>
              </a:rPr>
              <a:t>estimate intact isolated motion segment stiffness from</a:t>
            </a:r>
            <a:r>
              <a:rPr lang="en-US" dirty="0">
                <a:effectLst/>
                <a:latin typeface="Calibri" panose="020F0502020204030204" pitchFamily="34" charset="0"/>
              </a:rPr>
              <a:t> </a:t>
            </a:r>
            <a:r>
              <a:rPr lang="en-US" b="1" dirty="0">
                <a:effectLst/>
                <a:latin typeface="Calibri" panose="020F0502020204030204" pitchFamily="34" charset="0"/>
              </a:rPr>
              <a:t>intact full spine patient stiffness</a:t>
            </a:r>
            <a:r>
              <a:rPr lang="en-US" dirty="0">
                <a:effectLst/>
                <a:latin typeface="Calibri" panose="020F0502020204030204" pitchFamily="34" charset="0"/>
              </a:rPr>
              <a:t>? </a:t>
            </a:r>
          </a:p>
          <a:p>
            <a:pPr marL="0" marR="0">
              <a:buNone/>
            </a:pPr>
            <a:endParaRPr lang="en-US" dirty="0">
              <a:effectLst/>
              <a:latin typeface="Calibri" panose="020F0502020204030204" pitchFamily="34" charset="0"/>
            </a:endParaRPr>
          </a:p>
          <a:p>
            <a:pPr marL="0" marR="0">
              <a:buNone/>
            </a:pPr>
            <a:r>
              <a:rPr lang="en-US" dirty="0">
                <a:effectLst/>
                <a:latin typeface="Calibri" panose="020F0502020204030204" pitchFamily="34" charset="0"/>
              </a:rPr>
              <a:t>We’ll measure/establish the relationship between these two features using lamina spreader. If successful, we can use intraoperative spreader measurements to estimate motion segment stiffness using either our cadaver measurements or the literature data.</a:t>
            </a:r>
          </a:p>
        </p:txBody>
      </p:sp>
    </p:spTree>
    <p:extLst>
      <p:ext uri="{BB962C8B-B14F-4D97-AF65-F5344CB8AC3E}">
        <p14:creationId xmlns:p14="http://schemas.microsoft.com/office/powerpoint/2010/main" val="39364640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6A8C4-7ED1-8A8F-7BDB-ED61C9C82B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E5F95B-CA0A-0C29-572C-7E2E47A9C404}"/>
              </a:ext>
            </a:extLst>
          </p:cNvPr>
          <p:cNvSpPr>
            <a:spLocks noGrp="1"/>
          </p:cNvSpPr>
          <p:nvPr>
            <p:ph type="title"/>
          </p:nvPr>
        </p:nvSpPr>
        <p:spPr/>
        <p:txBody>
          <a:bodyPr/>
          <a:lstStyle/>
          <a:p>
            <a:r>
              <a:rPr lang="en-US" dirty="0"/>
              <a:t>Cadaver Lab Goals</a:t>
            </a:r>
          </a:p>
        </p:txBody>
      </p:sp>
      <p:sp>
        <p:nvSpPr>
          <p:cNvPr id="4" name="TextBox 3">
            <a:extLst>
              <a:ext uri="{FF2B5EF4-FFF2-40B4-BE49-F238E27FC236}">
                <a16:creationId xmlns:a16="http://schemas.microsoft.com/office/drawing/2014/main" id="{DF07DD94-4929-9933-99D2-4C796DEA09E7}"/>
              </a:ext>
            </a:extLst>
          </p:cNvPr>
          <p:cNvSpPr txBox="1"/>
          <p:nvPr/>
        </p:nvSpPr>
        <p:spPr>
          <a:xfrm>
            <a:off x="544663" y="1444942"/>
            <a:ext cx="10777994" cy="3693319"/>
          </a:xfrm>
          <a:prstGeom prst="rect">
            <a:avLst/>
          </a:prstGeom>
          <a:noFill/>
        </p:spPr>
        <p:txBody>
          <a:bodyPr wrap="square">
            <a:spAutoFit/>
          </a:bodyPr>
          <a:lstStyle/>
          <a:p>
            <a:pPr marL="0" marR="0">
              <a:buNone/>
            </a:pPr>
            <a:r>
              <a:rPr lang="en-US" b="1" dirty="0">
                <a:latin typeface="Calibri" panose="020F0502020204030204" pitchFamily="34" charset="0"/>
              </a:rPr>
              <a:t>Goal</a:t>
            </a:r>
            <a:r>
              <a:rPr lang="en-US" b="1" dirty="0">
                <a:effectLst/>
                <a:latin typeface="Calibri" panose="020F0502020204030204" pitchFamily="34" charset="0"/>
              </a:rPr>
              <a:t> 1:</a:t>
            </a:r>
            <a:r>
              <a:rPr lang="en-US" dirty="0">
                <a:effectLst/>
                <a:latin typeface="Calibri" panose="020F0502020204030204" pitchFamily="34" charset="0"/>
              </a:rPr>
              <a:t> Establish usage guidelines:</a:t>
            </a:r>
          </a:p>
          <a:p>
            <a:pPr lvl="1"/>
            <a:r>
              <a:rPr lang="en-US" dirty="0">
                <a:latin typeface="Calibri" panose="020F0502020204030204" pitchFamily="34" charset="0"/>
              </a:rPr>
              <a:t>	- Establish where to apply lamina spreader (left/right lamina, spinous process)</a:t>
            </a:r>
          </a:p>
          <a:p>
            <a:pPr lvl="1"/>
            <a:r>
              <a:rPr lang="en-US" dirty="0">
                <a:latin typeface="Calibri" panose="020F0502020204030204" pitchFamily="34" charset="0"/>
              </a:rPr>
              <a:t>	- Establish how to perform consistent measurements (gradual force application, pause at the end, etc.)</a:t>
            </a:r>
            <a:endParaRPr lang="en-US" dirty="0">
              <a:effectLst/>
              <a:latin typeface="Calibri" panose="020F0502020204030204" pitchFamily="34" charset="0"/>
            </a:endParaRPr>
          </a:p>
          <a:p>
            <a:pPr lvl="1"/>
            <a:r>
              <a:rPr lang="en-US" dirty="0">
                <a:effectLst/>
                <a:latin typeface="Calibri" panose="020F0502020204030204" pitchFamily="34" charset="0"/>
              </a:rPr>
              <a:t>	- </a:t>
            </a:r>
            <a:r>
              <a:rPr lang="en-US" dirty="0">
                <a:latin typeface="Calibri" panose="020F0502020204030204" pitchFamily="34" charset="0"/>
              </a:rPr>
              <a:t>Establish how many cycles are needed? </a:t>
            </a:r>
          </a:p>
          <a:p>
            <a:pPr lvl="1"/>
            <a:r>
              <a:rPr lang="en-US" dirty="0">
                <a:latin typeface="Calibri" panose="020F0502020204030204" pitchFamily="34" charset="0"/>
              </a:rPr>
              <a:t>	- What makes a measurement cycle qualify?</a:t>
            </a:r>
            <a:endParaRPr lang="en-US" dirty="0">
              <a:effectLst/>
              <a:latin typeface="Calibri" panose="020F0502020204030204" pitchFamily="34" charset="0"/>
            </a:endParaRPr>
          </a:p>
          <a:p>
            <a:pPr marL="0" marR="0">
              <a:buNone/>
            </a:pPr>
            <a:endParaRPr lang="en-US" dirty="0">
              <a:latin typeface="Calibri" panose="020F0502020204030204" pitchFamily="34" charset="0"/>
            </a:endParaRPr>
          </a:p>
          <a:p>
            <a:r>
              <a:rPr lang="en-US" b="1" dirty="0">
                <a:latin typeface="Calibri" panose="020F0502020204030204" pitchFamily="34" charset="0"/>
              </a:rPr>
              <a:t>Goal 2:</a:t>
            </a:r>
            <a:r>
              <a:rPr lang="en-US" dirty="0">
                <a:latin typeface="Calibri" panose="020F0502020204030204" pitchFamily="34" charset="0"/>
              </a:rPr>
              <a:t> </a:t>
            </a:r>
            <a:r>
              <a:rPr lang="en-US" dirty="0"/>
              <a:t>Figure out whether to update stiffness on the go, or at the end of data collection</a:t>
            </a:r>
            <a:endParaRPr lang="en-US" dirty="0">
              <a:latin typeface="Calibri" panose="020F0502020204030204" pitchFamily="34" charset="0"/>
            </a:endParaRPr>
          </a:p>
          <a:p>
            <a:pPr marL="0" marR="0">
              <a:buNone/>
            </a:pPr>
            <a:endParaRPr lang="en-US" dirty="0">
              <a:latin typeface="Calibri" panose="020F0502020204030204" pitchFamily="34" charset="0"/>
            </a:endParaRPr>
          </a:p>
          <a:p>
            <a:r>
              <a:rPr lang="en-US" b="1" dirty="0">
                <a:latin typeface="Calibri" panose="020F0502020204030204" pitchFamily="34" charset="0"/>
              </a:rPr>
              <a:t>Goal 3:</a:t>
            </a:r>
            <a:r>
              <a:rPr lang="en-US" dirty="0">
                <a:latin typeface="Calibri" panose="020F0502020204030204" pitchFamily="34" charset="0"/>
              </a:rPr>
              <a:t> </a:t>
            </a:r>
            <a:r>
              <a:rPr lang="en-US" dirty="0"/>
              <a:t>Collect data for multiple levels</a:t>
            </a:r>
          </a:p>
          <a:p>
            <a:r>
              <a:rPr lang="en-US" dirty="0">
                <a:latin typeface="Calibri" panose="020F0502020204030204" pitchFamily="34" charset="0"/>
              </a:rPr>
              <a:t>		- </a:t>
            </a:r>
            <a:r>
              <a:rPr lang="en-US" dirty="0"/>
              <a:t>Figure out if there is a path to extrapolate multiple levels from one level measurement  </a:t>
            </a:r>
            <a:endParaRPr lang="en-US" dirty="0">
              <a:latin typeface="Calibri" panose="020F0502020204030204" pitchFamily="34" charset="0"/>
            </a:endParaRPr>
          </a:p>
          <a:p>
            <a:pPr marL="0" marR="0">
              <a:buNone/>
            </a:pPr>
            <a:endParaRPr lang="en-US" dirty="0">
              <a:latin typeface="Calibri" panose="020F0502020204030204" pitchFamily="34" charset="0"/>
            </a:endParaRPr>
          </a:p>
          <a:p>
            <a:pPr marL="0" marR="0">
              <a:buNone/>
            </a:pPr>
            <a:r>
              <a:rPr lang="en-US" dirty="0">
                <a:latin typeface="Calibri" panose="020F0502020204030204" pitchFamily="34" charset="0"/>
              </a:rPr>
              <a:t>	</a:t>
            </a:r>
            <a:endParaRPr lang="en-US" dirty="0">
              <a:effectLst/>
              <a:latin typeface="Calibri" panose="020F0502020204030204" pitchFamily="34" charset="0"/>
            </a:endParaRPr>
          </a:p>
          <a:p>
            <a:pPr marL="0" marR="0">
              <a:buNone/>
            </a:pPr>
            <a:r>
              <a:rPr lang="en-US" dirty="0">
                <a:effectLst/>
                <a:latin typeface="Calibri" panose="020F0502020204030204" pitchFamily="34" charset="0"/>
              </a:rPr>
              <a:t> </a:t>
            </a:r>
          </a:p>
        </p:txBody>
      </p:sp>
    </p:spTree>
    <p:extLst>
      <p:ext uri="{BB962C8B-B14F-4D97-AF65-F5344CB8AC3E}">
        <p14:creationId xmlns:p14="http://schemas.microsoft.com/office/powerpoint/2010/main" val="29599742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AF8DF-E3A5-76B9-4E99-CD30683C6B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EE2DF-8AFC-980C-3839-B62B2591D335}"/>
              </a:ext>
            </a:extLst>
          </p:cNvPr>
          <p:cNvSpPr>
            <a:spLocks noGrp="1"/>
          </p:cNvSpPr>
          <p:nvPr>
            <p:ph type="title"/>
          </p:nvPr>
        </p:nvSpPr>
        <p:spPr/>
        <p:txBody>
          <a:bodyPr/>
          <a:lstStyle/>
          <a:p>
            <a:endParaRPr lang="en-US" dirty="0"/>
          </a:p>
        </p:txBody>
      </p:sp>
      <p:pic>
        <p:nvPicPr>
          <p:cNvPr id="4" name="Picture 3">
            <a:extLst>
              <a:ext uri="{FF2B5EF4-FFF2-40B4-BE49-F238E27FC236}">
                <a16:creationId xmlns:a16="http://schemas.microsoft.com/office/drawing/2014/main" id="{1C1B3EC1-D02A-8938-C8AF-CF6ABEDC674D}"/>
              </a:ext>
            </a:extLst>
          </p:cNvPr>
          <p:cNvPicPr>
            <a:picLocks noChangeAspect="1"/>
          </p:cNvPicPr>
          <p:nvPr/>
        </p:nvPicPr>
        <p:blipFill>
          <a:blip r:embed="rId2"/>
          <a:stretch>
            <a:fillRect/>
          </a:stretch>
        </p:blipFill>
        <p:spPr>
          <a:xfrm>
            <a:off x="961308" y="1609471"/>
            <a:ext cx="10269383" cy="3639058"/>
          </a:xfrm>
          <a:prstGeom prst="rect">
            <a:avLst/>
          </a:prstGeom>
        </p:spPr>
      </p:pic>
    </p:spTree>
    <p:extLst>
      <p:ext uri="{BB962C8B-B14F-4D97-AF65-F5344CB8AC3E}">
        <p14:creationId xmlns:p14="http://schemas.microsoft.com/office/powerpoint/2010/main" val="41468215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7A6C3-D0A6-D298-EB28-2E7E172DAD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BE2633-82B8-C0DC-B9FD-167B1EDFD86C}"/>
              </a:ext>
            </a:extLst>
          </p:cNvPr>
          <p:cNvSpPr>
            <a:spLocks noGrp="1"/>
          </p:cNvSpPr>
          <p:nvPr>
            <p:ph type="title"/>
          </p:nvPr>
        </p:nvSpPr>
        <p:spPr/>
        <p:txBody>
          <a:bodyPr/>
          <a:lstStyle/>
          <a:p>
            <a:endParaRPr lang="en-US" dirty="0"/>
          </a:p>
        </p:txBody>
      </p:sp>
      <p:pic>
        <p:nvPicPr>
          <p:cNvPr id="4" name="Picture 3">
            <a:extLst>
              <a:ext uri="{FF2B5EF4-FFF2-40B4-BE49-F238E27FC236}">
                <a16:creationId xmlns:a16="http://schemas.microsoft.com/office/drawing/2014/main" id="{BC4C06B9-C2F9-5517-26AD-C5124AD6D226}"/>
              </a:ext>
            </a:extLst>
          </p:cNvPr>
          <p:cNvPicPr>
            <a:picLocks noChangeAspect="1"/>
          </p:cNvPicPr>
          <p:nvPr/>
        </p:nvPicPr>
        <p:blipFill>
          <a:blip r:embed="rId2"/>
          <a:stretch>
            <a:fillRect/>
          </a:stretch>
        </p:blipFill>
        <p:spPr>
          <a:xfrm>
            <a:off x="2085415" y="275785"/>
            <a:ext cx="8021169" cy="6306430"/>
          </a:xfrm>
          <a:prstGeom prst="rect">
            <a:avLst/>
          </a:prstGeom>
        </p:spPr>
      </p:pic>
    </p:spTree>
    <p:extLst>
      <p:ext uri="{BB962C8B-B14F-4D97-AF65-F5344CB8AC3E}">
        <p14:creationId xmlns:p14="http://schemas.microsoft.com/office/powerpoint/2010/main" val="20654510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8E755-4329-CA97-ED54-8E45F891AB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751225-17AE-1BD3-5E5D-4B2C53129F23}"/>
              </a:ext>
            </a:extLst>
          </p:cNvPr>
          <p:cNvSpPr>
            <a:spLocks noGrp="1"/>
          </p:cNvSpPr>
          <p:nvPr>
            <p:ph type="title"/>
          </p:nvPr>
        </p:nvSpPr>
        <p:spPr/>
        <p:txBody>
          <a:bodyPr/>
          <a:lstStyle/>
          <a:p>
            <a:endParaRPr lang="en-US" dirty="0"/>
          </a:p>
        </p:txBody>
      </p:sp>
      <p:pic>
        <p:nvPicPr>
          <p:cNvPr id="4" name="Picture 3">
            <a:extLst>
              <a:ext uri="{FF2B5EF4-FFF2-40B4-BE49-F238E27FC236}">
                <a16:creationId xmlns:a16="http://schemas.microsoft.com/office/drawing/2014/main" id="{363B819D-252D-09D7-D702-53E1D989148A}"/>
              </a:ext>
            </a:extLst>
          </p:cNvPr>
          <p:cNvPicPr>
            <a:picLocks noChangeAspect="1"/>
          </p:cNvPicPr>
          <p:nvPr/>
        </p:nvPicPr>
        <p:blipFill>
          <a:blip r:embed="rId2"/>
          <a:stretch>
            <a:fillRect/>
          </a:stretch>
        </p:blipFill>
        <p:spPr>
          <a:xfrm>
            <a:off x="689808" y="1666629"/>
            <a:ext cx="10812384" cy="3524742"/>
          </a:xfrm>
          <a:prstGeom prst="rect">
            <a:avLst/>
          </a:prstGeom>
        </p:spPr>
      </p:pic>
    </p:spTree>
    <p:extLst>
      <p:ext uri="{BB962C8B-B14F-4D97-AF65-F5344CB8AC3E}">
        <p14:creationId xmlns:p14="http://schemas.microsoft.com/office/powerpoint/2010/main" val="31200832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2E75E-A380-791D-1CBD-847884F279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FA989A-3AFE-F2F0-763E-45CEE831577B}"/>
              </a:ext>
            </a:extLst>
          </p:cNvPr>
          <p:cNvSpPr>
            <a:spLocks noGrp="1"/>
          </p:cNvSpPr>
          <p:nvPr>
            <p:ph type="title"/>
          </p:nvPr>
        </p:nvSpPr>
        <p:spPr/>
        <p:txBody>
          <a:bodyPr/>
          <a:lstStyle/>
          <a:p>
            <a:endParaRPr lang="en-US" dirty="0"/>
          </a:p>
        </p:txBody>
      </p:sp>
      <p:pic>
        <p:nvPicPr>
          <p:cNvPr id="4" name="Picture 3">
            <a:extLst>
              <a:ext uri="{FF2B5EF4-FFF2-40B4-BE49-F238E27FC236}">
                <a16:creationId xmlns:a16="http://schemas.microsoft.com/office/drawing/2014/main" id="{44BE81A0-8C03-A1BB-48AE-7B2C69224E11}"/>
              </a:ext>
            </a:extLst>
          </p:cNvPr>
          <p:cNvPicPr>
            <a:picLocks noChangeAspect="1"/>
          </p:cNvPicPr>
          <p:nvPr/>
        </p:nvPicPr>
        <p:blipFill>
          <a:blip r:embed="rId2"/>
          <a:stretch>
            <a:fillRect/>
          </a:stretch>
        </p:blipFill>
        <p:spPr>
          <a:xfrm>
            <a:off x="1218519" y="2171524"/>
            <a:ext cx="9754961" cy="2514951"/>
          </a:xfrm>
          <a:prstGeom prst="rect">
            <a:avLst/>
          </a:prstGeom>
        </p:spPr>
      </p:pic>
    </p:spTree>
    <p:extLst>
      <p:ext uri="{BB962C8B-B14F-4D97-AF65-F5344CB8AC3E}">
        <p14:creationId xmlns:p14="http://schemas.microsoft.com/office/powerpoint/2010/main" val="7662057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13794-F468-1612-EDCD-F3158142C15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52494B51-2750-69FB-DB44-11CAC7E05AE9}"/>
              </a:ext>
            </a:extLst>
          </p:cNvPr>
          <p:cNvSpPr txBox="1">
            <a:spLocks/>
          </p:cNvSpPr>
          <p:nvPr/>
        </p:nvSpPr>
        <p:spPr>
          <a:xfrm>
            <a:off x="685800" y="2130425"/>
            <a:ext cx="7772400" cy="147002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b="1" dirty="0"/>
              <a:t>Summary for Intraoperative Stiffness Measurements Using Lamina Spreader</a:t>
            </a:r>
          </a:p>
        </p:txBody>
      </p:sp>
    </p:spTree>
    <p:extLst>
      <p:ext uri="{BB962C8B-B14F-4D97-AF65-F5344CB8AC3E}">
        <p14:creationId xmlns:p14="http://schemas.microsoft.com/office/powerpoint/2010/main" val="8533589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36453-F51E-F09E-6890-885D7F6F1B7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148F87F-7D51-39A3-DB81-C2A90E95C5DF}"/>
              </a:ext>
            </a:extLst>
          </p:cNvPr>
          <p:cNvPicPr>
            <a:picLocks noChangeAspect="1"/>
          </p:cNvPicPr>
          <p:nvPr/>
        </p:nvPicPr>
        <p:blipFill>
          <a:blip r:embed="rId2"/>
          <a:stretch>
            <a:fillRect/>
          </a:stretch>
        </p:blipFill>
        <p:spPr>
          <a:xfrm rot="5400000">
            <a:off x="895736" y="199546"/>
            <a:ext cx="3396859" cy="4548791"/>
          </a:xfrm>
          <a:prstGeom prst="rect">
            <a:avLst/>
          </a:prstGeom>
        </p:spPr>
      </p:pic>
      <p:pic>
        <p:nvPicPr>
          <p:cNvPr id="6" name="Picture 5">
            <a:extLst>
              <a:ext uri="{FF2B5EF4-FFF2-40B4-BE49-F238E27FC236}">
                <a16:creationId xmlns:a16="http://schemas.microsoft.com/office/drawing/2014/main" id="{3BBAA995-BF41-21C5-A138-FC06300112D0}"/>
              </a:ext>
            </a:extLst>
          </p:cNvPr>
          <p:cNvPicPr>
            <a:picLocks noChangeAspect="1"/>
          </p:cNvPicPr>
          <p:nvPr/>
        </p:nvPicPr>
        <p:blipFill>
          <a:blip r:embed="rId3"/>
          <a:stretch>
            <a:fillRect/>
          </a:stretch>
        </p:blipFill>
        <p:spPr>
          <a:xfrm>
            <a:off x="214184" y="4172371"/>
            <a:ext cx="5206313" cy="2481807"/>
          </a:xfrm>
          <a:prstGeom prst="rect">
            <a:avLst/>
          </a:prstGeom>
        </p:spPr>
      </p:pic>
      <p:pic>
        <p:nvPicPr>
          <p:cNvPr id="8" name="Picture 7">
            <a:extLst>
              <a:ext uri="{FF2B5EF4-FFF2-40B4-BE49-F238E27FC236}">
                <a16:creationId xmlns:a16="http://schemas.microsoft.com/office/drawing/2014/main" id="{307D6108-3D48-D66C-2BC7-C6068473E018}"/>
              </a:ext>
            </a:extLst>
          </p:cNvPr>
          <p:cNvPicPr>
            <a:picLocks noChangeAspect="1"/>
          </p:cNvPicPr>
          <p:nvPr/>
        </p:nvPicPr>
        <p:blipFill>
          <a:blip r:embed="rId4"/>
          <a:stretch>
            <a:fillRect/>
          </a:stretch>
        </p:blipFill>
        <p:spPr>
          <a:xfrm>
            <a:off x="5813611" y="1173255"/>
            <a:ext cx="5850485" cy="4511490"/>
          </a:xfrm>
          <a:prstGeom prst="rect">
            <a:avLst/>
          </a:prstGeom>
        </p:spPr>
      </p:pic>
      <p:sp>
        <p:nvSpPr>
          <p:cNvPr id="9" name="TextBox 8">
            <a:extLst>
              <a:ext uri="{FF2B5EF4-FFF2-40B4-BE49-F238E27FC236}">
                <a16:creationId xmlns:a16="http://schemas.microsoft.com/office/drawing/2014/main" id="{ADAA2A8A-657F-1470-173A-F4F07EE88ABD}"/>
              </a:ext>
            </a:extLst>
          </p:cNvPr>
          <p:cNvSpPr txBox="1"/>
          <p:nvPr/>
        </p:nvSpPr>
        <p:spPr>
          <a:xfrm>
            <a:off x="1425388" y="282388"/>
            <a:ext cx="2420791" cy="461665"/>
          </a:xfrm>
          <a:prstGeom prst="rect">
            <a:avLst/>
          </a:prstGeom>
          <a:noFill/>
        </p:spPr>
        <p:txBody>
          <a:bodyPr wrap="none" rtlCol="0">
            <a:spAutoFit/>
          </a:bodyPr>
          <a:lstStyle/>
          <a:p>
            <a:r>
              <a:rPr lang="en-US" sz="2400" b="1" dirty="0"/>
              <a:t>Brown 2002 et al.</a:t>
            </a:r>
          </a:p>
        </p:txBody>
      </p:sp>
    </p:spTree>
    <p:extLst>
      <p:ext uri="{BB962C8B-B14F-4D97-AF65-F5344CB8AC3E}">
        <p14:creationId xmlns:p14="http://schemas.microsoft.com/office/powerpoint/2010/main" val="26855927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8527A-916D-2EB8-21D0-9C406C7DDD8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BE2AFBD-43F3-1FFC-6F3B-B5EA8485D8E4}"/>
              </a:ext>
            </a:extLst>
          </p:cNvPr>
          <p:cNvPicPr>
            <a:picLocks noChangeAspect="1"/>
          </p:cNvPicPr>
          <p:nvPr/>
        </p:nvPicPr>
        <p:blipFill>
          <a:blip r:embed="rId2"/>
          <a:stretch>
            <a:fillRect/>
          </a:stretch>
        </p:blipFill>
        <p:spPr>
          <a:xfrm>
            <a:off x="99060" y="1143000"/>
            <a:ext cx="6382012" cy="4340214"/>
          </a:xfrm>
          <a:prstGeom prst="rect">
            <a:avLst/>
          </a:prstGeom>
        </p:spPr>
      </p:pic>
      <p:pic>
        <p:nvPicPr>
          <p:cNvPr id="6" name="Picture 5">
            <a:extLst>
              <a:ext uri="{FF2B5EF4-FFF2-40B4-BE49-F238E27FC236}">
                <a16:creationId xmlns:a16="http://schemas.microsoft.com/office/drawing/2014/main" id="{ACE0D6DE-31E7-B4D8-3D33-585443F49EFE}"/>
              </a:ext>
            </a:extLst>
          </p:cNvPr>
          <p:cNvPicPr>
            <a:picLocks noChangeAspect="1"/>
          </p:cNvPicPr>
          <p:nvPr/>
        </p:nvPicPr>
        <p:blipFill>
          <a:blip r:embed="rId3"/>
          <a:stretch>
            <a:fillRect/>
          </a:stretch>
        </p:blipFill>
        <p:spPr>
          <a:xfrm>
            <a:off x="6155931" y="1417638"/>
            <a:ext cx="4142836" cy="3865560"/>
          </a:xfrm>
          <a:prstGeom prst="rect">
            <a:avLst/>
          </a:prstGeom>
        </p:spPr>
      </p:pic>
      <p:sp>
        <p:nvSpPr>
          <p:cNvPr id="3" name="TextBox 2">
            <a:extLst>
              <a:ext uri="{FF2B5EF4-FFF2-40B4-BE49-F238E27FC236}">
                <a16:creationId xmlns:a16="http://schemas.microsoft.com/office/drawing/2014/main" id="{FBC7F46D-59EA-CCE6-60C7-44CD029760B8}"/>
              </a:ext>
            </a:extLst>
          </p:cNvPr>
          <p:cNvSpPr txBox="1"/>
          <p:nvPr/>
        </p:nvSpPr>
        <p:spPr>
          <a:xfrm>
            <a:off x="1425388" y="282388"/>
            <a:ext cx="2306209" cy="461665"/>
          </a:xfrm>
          <a:prstGeom prst="rect">
            <a:avLst/>
          </a:prstGeom>
          <a:noFill/>
        </p:spPr>
        <p:txBody>
          <a:bodyPr wrap="none" rtlCol="0">
            <a:spAutoFit/>
          </a:bodyPr>
          <a:lstStyle/>
          <a:p>
            <a:r>
              <a:rPr lang="en-US" sz="2400" b="1" dirty="0"/>
              <a:t>Ebara 1992 et al.</a:t>
            </a:r>
          </a:p>
        </p:txBody>
      </p:sp>
    </p:spTree>
    <p:extLst>
      <p:ext uri="{BB962C8B-B14F-4D97-AF65-F5344CB8AC3E}">
        <p14:creationId xmlns:p14="http://schemas.microsoft.com/office/powerpoint/2010/main" val="20497162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92BB2-9F1F-CD44-3623-0ACD9EEE6A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1D6379-BCD3-6008-29CC-9CB1B5A38C7B}"/>
              </a:ext>
            </a:extLst>
          </p:cNvPr>
          <p:cNvSpPr>
            <a:spLocks noGrp="1"/>
          </p:cNvSpPr>
          <p:nvPr>
            <p:ph type="title"/>
          </p:nvPr>
        </p:nvSpPr>
        <p:spPr/>
        <p:txBody>
          <a:bodyPr>
            <a:normAutofit fontScale="90000"/>
          </a:bodyPr>
          <a:lstStyle/>
          <a:p>
            <a:r>
              <a:rPr lang="en-US" dirty="0"/>
              <a:t>Comparison of Intraoperative Stiffness with Literature</a:t>
            </a:r>
          </a:p>
        </p:txBody>
      </p:sp>
      <p:pic>
        <p:nvPicPr>
          <p:cNvPr id="6" name="Picture 5">
            <a:extLst>
              <a:ext uri="{FF2B5EF4-FFF2-40B4-BE49-F238E27FC236}">
                <a16:creationId xmlns:a16="http://schemas.microsoft.com/office/drawing/2014/main" id="{082808C1-B451-E5E8-C42E-9C65401E88FD}"/>
              </a:ext>
            </a:extLst>
          </p:cNvPr>
          <p:cNvPicPr>
            <a:picLocks noChangeAspect="1"/>
          </p:cNvPicPr>
          <p:nvPr/>
        </p:nvPicPr>
        <p:blipFill>
          <a:blip r:embed="rId2"/>
          <a:stretch>
            <a:fillRect/>
          </a:stretch>
        </p:blipFill>
        <p:spPr>
          <a:xfrm>
            <a:off x="389674" y="2231283"/>
            <a:ext cx="2580719" cy="3288068"/>
          </a:xfrm>
          <a:prstGeom prst="rect">
            <a:avLst/>
          </a:prstGeom>
        </p:spPr>
      </p:pic>
      <p:pic>
        <p:nvPicPr>
          <p:cNvPr id="5" name="Picture 4">
            <a:extLst>
              <a:ext uri="{FF2B5EF4-FFF2-40B4-BE49-F238E27FC236}">
                <a16:creationId xmlns:a16="http://schemas.microsoft.com/office/drawing/2014/main" id="{E4A94D11-7D14-F39F-12D5-8A6F7910F9AA}"/>
              </a:ext>
            </a:extLst>
          </p:cNvPr>
          <p:cNvPicPr>
            <a:picLocks noChangeAspect="1"/>
          </p:cNvPicPr>
          <p:nvPr/>
        </p:nvPicPr>
        <p:blipFill>
          <a:blip r:embed="rId3"/>
          <a:stretch>
            <a:fillRect/>
          </a:stretch>
        </p:blipFill>
        <p:spPr>
          <a:xfrm>
            <a:off x="3254193" y="2231284"/>
            <a:ext cx="5669083" cy="3288068"/>
          </a:xfrm>
          <a:prstGeom prst="rect">
            <a:avLst/>
          </a:prstGeom>
        </p:spPr>
      </p:pic>
      <p:pic>
        <p:nvPicPr>
          <p:cNvPr id="8" name="Picture 7">
            <a:extLst>
              <a:ext uri="{FF2B5EF4-FFF2-40B4-BE49-F238E27FC236}">
                <a16:creationId xmlns:a16="http://schemas.microsoft.com/office/drawing/2014/main" id="{A001A05B-439C-3845-679D-9C78D840DAA1}"/>
              </a:ext>
            </a:extLst>
          </p:cNvPr>
          <p:cNvPicPr>
            <a:picLocks noChangeAspect="1"/>
          </p:cNvPicPr>
          <p:nvPr/>
        </p:nvPicPr>
        <p:blipFill>
          <a:blip r:embed="rId4"/>
          <a:stretch>
            <a:fillRect/>
          </a:stretch>
        </p:blipFill>
        <p:spPr>
          <a:xfrm>
            <a:off x="7684418" y="953255"/>
            <a:ext cx="4050382" cy="1509906"/>
          </a:xfrm>
          <a:prstGeom prst="rect">
            <a:avLst/>
          </a:prstGeom>
        </p:spPr>
      </p:pic>
    </p:spTree>
    <p:extLst>
      <p:ext uri="{BB962C8B-B14F-4D97-AF65-F5344CB8AC3E}">
        <p14:creationId xmlns:p14="http://schemas.microsoft.com/office/powerpoint/2010/main" val="21576313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6439B-5637-3A34-8DA1-6E10D282B9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63FD1C-40C5-0F38-8D6F-4C3EF1FFCDF8}"/>
              </a:ext>
            </a:extLst>
          </p:cNvPr>
          <p:cNvSpPr>
            <a:spLocks noGrp="1"/>
          </p:cNvSpPr>
          <p:nvPr>
            <p:ph type="title"/>
          </p:nvPr>
        </p:nvSpPr>
        <p:spPr/>
        <p:txBody>
          <a:bodyPr/>
          <a:lstStyle/>
          <a:p>
            <a:r>
              <a:rPr lang="en-US" dirty="0"/>
              <a:t>Comparison of Measurement Side</a:t>
            </a:r>
          </a:p>
        </p:txBody>
      </p:sp>
      <p:pic>
        <p:nvPicPr>
          <p:cNvPr id="4" name="Picture 3">
            <a:extLst>
              <a:ext uri="{FF2B5EF4-FFF2-40B4-BE49-F238E27FC236}">
                <a16:creationId xmlns:a16="http://schemas.microsoft.com/office/drawing/2014/main" id="{4B0ECA94-C84B-DCA2-00EF-889CAC0128B5}"/>
              </a:ext>
            </a:extLst>
          </p:cNvPr>
          <p:cNvPicPr>
            <a:picLocks noChangeAspect="1"/>
          </p:cNvPicPr>
          <p:nvPr/>
        </p:nvPicPr>
        <p:blipFill>
          <a:blip r:embed="rId2"/>
          <a:stretch>
            <a:fillRect/>
          </a:stretch>
        </p:blipFill>
        <p:spPr>
          <a:xfrm>
            <a:off x="457200" y="1567942"/>
            <a:ext cx="6202375" cy="5142140"/>
          </a:xfrm>
          <a:prstGeom prst="rect">
            <a:avLst/>
          </a:prstGeom>
        </p:spPr>
      </p:pic>
    </p:spTree>
    <p:extLst>
      <p:ext uri="{BB962C8B-B14F-4D97-AF65-F5344CB8AC3E}">
        <p14:creationId xmlns:p14="http://schemas.microsoft.com/office/powerpoint/2010/main" val="42405500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C852B-26FC-7AA9-37C9-D69329A528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1BD49-FB9F-6610-D383-2A7536778AD6}"/>
              </a:ext>
            </a:extLst>
          </p:cNvPr>
          <p:cNvSpPr>
            <a:spLocks noGrp="1"/>
          </p:cNvSpPr>
          <p:nvPr>
            <p:ph type="title"/>
          </p:nvPr>
        </p:nvSpPr>
        <p:spPr/>
        <p:txBody>
          <a:bodyPr>
            <a:normAutofit/>
          </a:bodyPr>
          <a:lstStyle/>
          <a:p>
            <a:r>
              <a:rPr lang="en-US" dirty="0"/>
              <a:t>Comparison of Spine Levels</a:t>
            </a:r>
          </a:p>
        </p:txBody>
      </p:sp>
      <p:pic>
        <p:nvPicPr>
          <p:cNvPr id="4" name="Picture 3">
            <a:extLst>
              <a:ext uri="{FF2B5EF4-FFF2-40B4-BE49-F238E27FC236}">
                <a16:creationId xmlns:a16="http://schemas.microsoft.com/office/drawing/2014/main" id="{970806CF-B1C1-FA35-72B0-4313B6E902CB}"/>
              </a:ext>
            </a:extLst>
          </p:cNvPr>
          <p:cNvPicPr>
            <a:picLocks noChangeAspect="1"/>
          </p:cNvPicPr>
          <p:nvPr/>
        </p:nvPicPr>
        <p:blipFill>
          <a:blip r:embed="rId2"/>
          <a:stretch>
            <a:fillRect/>
          </a:stretch>
        </p:blipFill>
        <p:spPr>
          <a:xfrm>
            <a:off x="615284" y="1513821"/>
            <a:ext cx="6114807" cy="5069541"/>
          </a:xfrm>
          <a:prstGeom prst="rect">
            <a:avLst/>
          </a:prstGeom>
        </p:spPr>
      </p:pic>
    </p:spTree>
    <p:extLst>
      <p:ext uri="{BB962C8B-B14F-4D97-AF65-F5344CB8AC3E}">
        <p14:creationId xmlns:p14="http://schemas.microsoft.com/office/powerpoint/2010/main" val="36397646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3567C-4048-4EE5-D907-79CEC6F868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0FEEC3-A86B-F10C-E067-DB4F90A7EFA6}"/>
              </a:ext>
            </a:extLst>
          </p:cNvPr>
          <p:cNvSpPr>
            <a:spLocks noGrp="1"/>
          </p:cNvSpPr>
          <p:nvPr>
            <p:ph type="title"/>
          </p:nvPr>
        </p:nvSpPr>
        <p:spPr/>
        <p:txBody>
          <a:bodyPr/>
          <a:lstStyle/>
          <a:p>
            <a:endParaRPr lang="en-US" dirty="0"/>
          </a:p>
        </p:txBody>
      </p:sp>
      <p:pic>
        <p:nvPicPr>
          <p:cNvPr id="4" name="Picture 3">
            <a:extLst>
              <a:ext uri="{FF2B5EF4-FFF2-40B4-BE49-F238E27FC236}">
                <a16:creationId xmlns:a16="http://schemas.microsoft.com/office/drawing/2014/main" id="{1260CBF7-9933-92CD-CD9C-9CF4EC878A78}"/>
              </a:ext>
            </a:extLst>
          </p:cNvPr>
          <p:cNvPicPr>
            <a:picLocks noChangeAspect="1"/>
          </p:cNvPicPr>
          <p:nvPr/>
        </p:nvPicPr>
        <p:blipFill>
          <a:blip r:embed="rId2"/>
          <a:stretch>
            <a:fillRect/>
          </a:stretch>
        </p:blipFill>
        <p:spPr>
          <a:xfrm>
            <a:off x="5411861" y="2296344"/>
            <a:ext cx="3486637" cy="1914792"/>
          </a:xfrm>
          <a:prstGeom prst="rect">
            <a:avLst/>
          </a:prstGeom>
        </p:spPr>
      </p:pic>
      <p:sp>
        <p:nvSpPr>
          <p:cNvPr id="5" name="TextBox 4">
            <a:extLst>
              <a:ext uri="{FF2B5EF4-FFF2-40B4-BE49-F238E27FC236}">
                <a16:creationId xmlns:a16="http://schemas.microsoft.com/office/drawing/2014/main" id="{D5AC91CF-0AEE-3C7E-C2E8-BF32CF0493BE}"/>
              </a:ext>
            </a:extLst>
          </p:cNvPr>
          <p:cNvSpPr txBox="1"/>
          <p:nvPr/>
        </p:nvSpPr>
        <p:spPr>
          <a:xfrm>
            <a:off x="457200" y="2143096"/>
            <a:ext cx="3289490" cy="369332"/>
          </a:xfrm>
          <a:prstGeom prst="rect">
            <a:avLst/>
          </a:prstGeom>
          <a:noFill/>
        </p:spPr>
        <p:txBody>
          <a:bodyPr wrap="none" rtlCol="0">
            <a:spAutoFit/>
          </a:bodyPr>
          <a:lstStyle/>
          <a:p>
            <a:r>
              <a:rPr lang="en-US" dirty="0"/>
              <a:t>Standardized force band stiffness</a:t>
            </a:r>
          </a:p>
        </p:txBody>
      </p:sp>
      <p:pic>
        <p:nvPicPr>
          <p:cNvPr id="7" name="Picture 6">
            <a:extLst>
              <a:ext uri="{FF2B5EF4-FFF2-40B4-BE49-F238E27FC236}">
                <a16:creationId xmlns:a16="http://schemas.microsoft.com/office/drawing/2014/main" id="{08FE7DDF-0C52-23B7-627C-C9F6624F2FB3}"/>
              </a:ext>
            </a:extLst>
          </p:cNvPr>
          <p:cNvPicPr>
            <a:picLocks noChangeAspect="1"/>
          </p:cNvPicPr>
          <p:nvPr/>
        </p:nvPicPr>
        <p:blipFill>
          <a:blip r:embed="rId3"/>
          <a:stretch>
            <a:fillRect/>
          </a:stretch>
        </p:blipFill>
        <p:spPr>
          <a:xfrm>
            <a:off x="546223" y="5251109"/>
            <a:ext cx="7335274" cy="333422"/>
          </a:xfrm>
          <a:prstGeom prst="rect">
            <a:avLst/>
          </a:prstGeom>
        </p:spPr>
      </p:pic>
    </p:spTree>
    <p:extLst>
      <p:ext uri="{BB962C8B-B14F-4D97-AF65-F5344CB8AC3E}">
        <p14:creationId xmlns:p14="http://schemas.microsoft.com/office/powerpoint/2010/main" val="23499646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F25AC-AB07-79B7-1357-F6E8485A60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1D9F60-37AC-3053-FD61-D54E454ED6B3}"/>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15237710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A4923-4A6B-7A31-FB47-1850CE4E8C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694014-818F-6F43-6C27-6960C01B27AA}"/>
              </a:ext>
            </a:extLst>
          </p:cNvPr>
          <p:cNvSpPr>
            <a:spLocks noGrp="1"/>
          </p:cNvSpPr>
          <p:nvPr>
            <p:ph type="title"/>
          </p:nvPr>
        </p:nvSpPr>
        <p:spPr/>
        <p:txBody>
          <a:bodyPr/>
          <a:lstStyle/>
          <a:p>
            <a:endParaRPr lang="en-US" dirty="0"/>
          </a:p>
        </p:txBody>
      </p:sp>
      <p:pic>
        <p:nvPicPr>
          <p:cNvPr id="6" name="Picture 5">
            <a:extLst>
              <a:ext uri="{FF2B5EF4-FFF2-40B4-BE49-F238E27FC236}">
                <a16:creationId xmlns:a16="http://schemas.microsoft.com/office/drawing/2014/main" id="{A6377C98-F221-727D-3BCE-025533CC21D2}"/>
              </a:ext>
            </a:extLst>
          </p:cNvPr>
          <p:cNvPicPr>
            <a:picLocks noChangeAspect="1"/>
          </p:cNvPicPr>
          <p:nvPr/>
        </p:nvPicPr>
        <p:blipFill>
          <a:blip r:embed="rId2"/>
          <a:stretch>
            <a:fillRect/>
          </a:stretch>
        </p:blipFill>
        <p:spPr>
          <a:xfrm>
            <a:off x="769620" y="1940912"/>
            <a:ext cx="6327733" cy="4101748"/>
          </a:xfrm>
          <a:prstGeom prst="rect">
            <a:avLst/>
          </a:prstGeom>
        </p:spPr>
      </p:pic>
    </p:spTree>
    <p:extLst>
      <p:ext uri="{BB962C8B-B14F-4D97-AF65-F5344CB8AC3E}">
        <p14:creationId xmlns:p14="http://schemas.microsoft.com/office/powerpoint/2010/main" val="19578763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B0B02-FDE5-D5E9-1D70-DD25E6EAB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A4070E-76C4-182D-C08E-9747CD8DDB40}"/>
              </a:ext>
            </a:extLst>
          </p:cNvPr>
          <p:cNvSpPr>
            <a:spLocks noGrp="1"/>
          </p:cNvSpPr>
          <p:nvPr>
            <p:ph type="title"/>
          </p:nvPr>
        </p:nvSpPr>
        <p:spPr/>
        <p:txBody>
          <a:bodyPr/>
          <a:lstStyle/>
          <a:p>
            <a:endParaRPr lang="en-US" dirty="0"/>
          </a:p>
        </p:txBody>
      </p:sp>
      <p:pic>
        <p:nvPicPr>
          <p:cNvPr id="4" name="Picture 3">
            <a:extLst>
              <a:ext uri="{FF2B5EF4-FFF2-40B4-BE49-F238E27FC236}">
                <a16:creationId xmlns:a16="http://schemas.microsoft.com/office/drawing/2014/main" id="{622425AA-3716-55EA-A194-1D654C842EF0}"/>
              </a:ext>
            </a:extLst>
          </p:cNvPr>
          <p:cNvPicPr>
            <a:picLocks noChangeAspect="1"/>
          </p:cNvPicPr>
          <p:nvPr/>
        </p:nvPicPr>
        <p:blipFill>
          <a:blip r:embed="rId2"/>
          <a:stretch>
            <a:fillRect/>
          </a:stretch>
        </p:blipFill>
        <p:spPr>
          <a:xfrm>
            <a:off x="955696" y="1775459"/>
            <a:ext cx="6972887" cy="4332419"/>
          </a:xfrm>
          <a:prstGeom prst="rect">
            <a:avLst/>
          </a:prstGeom>
        </p:spPr>
      </p:pic>
    </p:spTree>
    <p:extLst>
      <p:ext uri="{BB962C8B-B14F-4D97-AF65-F5344CB8AC3E}">
        <p14:creationId xmlns:p14="http://schemas.microsoft.com/office/powerpoint/2010/main" val="26691820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0C519-C553-BC9E-5D1D-F35FEBCE54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4594A2-E011-9B79-EA96-2E231A3705E5}"/>
              </a:ext>
            </a:extLst>
          </p:cNvPr>
          <p:cNvSpPr>
            <a:spLocks noGrp="1"/>
          </p:cNvSpPr>
          <p:nvPr>
            <p:ph type="title"/>
          </p:nvPr>
        </p:nvSpPr>
        <p:spPr/>
        <p:txBody>
          <a:bodyPr/>
          <a:lstStyle/>
          <a:p>
            <a:endParaRPr lang="en-US" dirty="0"/>
          </a:p>
        </p:txBody>
      </p:sp>
      <p:pic>
        <p:nvPicPr>
          <p:cNvPr id="4" name="Picture 3">
            <a:extLst>
              <a:ext uri="{FF2B5EF4-FFF2-40B4-BE49-F238E27FC236}">
                <a16:creationId xmlns:a16="http://schemas.microsoft.com/office/drawing/2014/main" id="{14AA44DF-3564-D17D-DEEC-0CCF6AE644DD}"/>
              </a:ext>
            </a:extLst>
          </p:cNvPr>
          <p:cNvPicPr>
            <a:picLocks noChangeAspect="1"/>
          </p:cNvPicPr>
          <p:nvPr/>
        </p:nvPicPr>
        <p:blipFill>
          <a:blip r:embed="rId2"/>
          <a:stretch>
            <a:fillRect/>
          </a:stretch>
        </p:blipFill>
        <p:spPr>
          <a:xfrm>
            <a:off x="108813" y="1672369"/>
            <a:ext cx="9004707" cy="4341112"/>
          </a:xfrm>
          <a:prstGeom prst="rect">
            <a:avLst/>
          </a:prstGeom>
        </p:spPr>
      </p:pic>
    </p:spTree>
    <p:extLst>
      <p:ext uri="{BB962C8B-B14F-4D97-AF65-F5344CB8AC3E}">
        <p14:creationId xmlns:p14="http://schemas.microsoft.com/office/powerpoint/2010/main" val="31067194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356E-F436-9F95-D2EC-B507D792C3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240D6-94C0-EE52-DEBA-311DC38002B3}"/>
              </a:ext>
            </a:extLst>
          </p:cNvPr>
          <p:cNvSpPr>
            <a:spLocks noGrp="1"/>
          </p:cNvSpPr>
          <p:nvPr>
            <p:ph type="title"/>
          </p:nvPr>
        </p:nvSpPr>
        <p:spPr/>
        <p:txBody>
          <a:bodyPr/>
          <a:lstStyle/>
          <a:p>
            <a:endParaRPr lang="en-US" dirty="0"/>
          </a:p>
        </p:txBody>
      </p:sp>
      <p:pic>
        <p:nvPicPr>
          <p:cNvPr id="4" name="Picture 3">
            <a:extLst>
              <a:ext uri="{FF2B5EF4-FFF2-40B4-BE49-F238E27FC236}">
                <a16:creationId xmlns:a16="http://schemas.microsoft.com/office/drawing/2014/main" id="{4A1E3D14-D965-3ECE-5B40-AF8C0CF48DC1}"/>
              </a:ext>
            </a:extLst>
          </p:cNvPr>
          <p:cNvPicPr>
            <a:picLocks noChangeAspect="1"/>
          </p:cNvPicPr>
          <p:nvPr/>
        </p:nvPicPr>
        <p:blipFill>
          <a:blip r:embed="rId2"/>
          <a:stretch>
            <a:fillRect/>
          </a:stretch>
        </p:blipFill>
        <p:spPr>
          <a:xfrm>
            <a:off x="4281234" y="2357288"/>
            <a:ext cx="3629532" cy="2143424"/>
          </a:xfrm>
          <a:prstGeom prst="rect">
            <a:avLst/>
          </a:prstGeom>
        </p:spPr>
      </p:pic>
    </p:spTree>
    <p:extLst>
      <p:ext uri="{BB962C8B-B14F-4D97-AF65-F5344CB8AC3E}">
        <p14:creationId xmlns:p14="http://schemas.microsoft.com/office/powerpoint/2010/main" val="26706420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077B1-EFEA-C137-21E2-FF737DB2E3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00E7BF-1A3C-3AC7-B86A-5E5B4868BE3E}"/>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37461970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5F23D-230A-EAE7-59B3-27F1968DD7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2BB1D0-6D67-864A-39CE-E18D973973E5}"/>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31692879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E7B4D-D604-3DDC-2B3E-2CF350E00D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A90D11-5C88-91A7-987C-A6DA20F1A0A0}"/>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8606375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7D779-7E03-89BC-8E03-4F217D09C1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84591-E419-2CEF-2D98-384A3049EE4D}"/>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39183949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0B00F-4C44-1E7B-822A-A693ABBBB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36F04-4505-4A00-5A02-08B4A4B5DD21}"/>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32791090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B53D3-A15E-4040-B9F6-15387DEB4E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751306-8A6C-656E-5327-33C9D7BD9FE5}"/>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683762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2E093-4481-0335-4885-138751930D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29BDBF-C542-5FCE-3625-F4E3F2A35462}"/>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24885668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FEF7F-1E07-0C7C-0927-5A683FB69D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AFAF5B-7D93-6E6C-1B2D-33070A735B5A}"/>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31762599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73956-0EDD-E4A4-A734-4D185740D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3732F9-0C92-F596-1C90-F7C867A8A8E5}"/>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388736323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43A0A-32C2-77C5-7D2B-8D6DFFFC8A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1CB82D-2FFF-D6E2-B76E-9866D68EE7A6}"/>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251703198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416A1-7038-361C-9FBB-DDB2ABF445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54109C-CA7E-8081-61A3-8DC6A803ED3D}"/>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197396735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3159E-548D-4740-6B27-4EAA96BE15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7D8FED-1C4F-CB38-2281-69D96D3ED5FC}"/>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74157964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4194E-A06E-7104-2454-479F4B14A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3CE418-DF2F-8372-3836-2ADB17EC88D1}"/>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16156084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18403</TotalTime>
  <Words>1806</Words>
  <Application>Microsoft Office PowerPoint</Application>
  <PresentationFormat>Widescreen</PresentationFormat>
  <Paragraphs>196</Paragraphs>
  <Slides>77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77</vt:i4>
      </vt:variant>
    </vt:vector>
  </HeadingPairs>
  <TitlesOfParts>
    <vt:vector size="80" baseType="lpstr">
      <vt:lpstr>Arial</vt:lpstr>
      <vt:lpstr>Calibri</vt:lpstr>
      <vt:lpstr>Office Theme</vt:lpstr>
      <vt:lpstr>MTS Testing Data Summary</vt:lpstr>
      <vt:lpstr>Method Snapshot</vt:lpstr>
      <vt:lpstr>Intact</vt:lpstr>
      <vt:lpstr>Intervention: PUF Left</vt:lpstr>
      <vt:lpstr>Intervention: FUF Left</vt:lpstr>
      <vt:lpstr>Intervention: FBF</vt:lpstr>
      <vt:lpstr>Intervention: Posterior Release</vt:lpstr>
      <vt:lpstr>Intervention: SPO</vt:lpstr>
      <vt:lpstr>Flexion/Extension – All Interventions</vt:lpstr>
      <vt:lpstr>Lateral Bending – All Interventions</vt:lpstr>
      <vt:lpstr>Axial Rotation – All Interventions</vt:lpstr>
      <vt:lpstr>MTS Flexion: Comparison of Different Stiffness Metrics</vt:lpstr>
      <vt:lpstr>MTS FE (Native Axes): Extension 0-5 and Flexion 0 to -5 Nm Secant Fit Panels</vt:lpstr>
      <vt:lpstr>MTS Flexion (Native Negative Axes): 0 to -5 Nm Secant Stiffness Bar</vt:lpstr>
      <vt:lpstr>MTS Extension (Native Positive Axes): 0 to 5 Nm Secant Stiffness Bar</vt:lpstr>
      <vt:lpstr>Comparison with Literature (Zhang 2020)</vt:lpstr>
      <vt:lpstr>PowerPoint Presentation</vt:lpstr>
      <vt:lpstr>Workflow Overview</vt:lpstr>
      <vt:lpstr>Step 1: Raw Force-Theta Sync Check</vt:lpstr>
      <vt:lpstr>Step 2: Filtering Only (No Theta0 Yet)</vt:lpstr>
      <vt:lpstr>Step 3: Preload Removal + Theta0 + Ramp-Start Snap</vt:lpstr>
      <vt:lpstr>Step 4: Mark And Exclude Ineligible Cycles</vt:lpstr>
      <vt:lpstr>Step 5A: Force-Tip Linear Region Fitting: Intact</vt:lpstr>
      <vt:lpstr>Step 5A: Force-Tip Linear Region Fitting: PUF</vt:lpstr>
      <vt:lpstr>Step 5A: Force-Tip Linear Region Fitting: FUF</vt:lpstr>
      <vt:lpstr>Step 5A: Force-Tip Linear Region Fitting: FBF</vt:lpstr>
      <vt:lpstr>Step 5A: Force-Tip Linear Region Fitting: Posterior Release</vt:lpstr>
      <vt:lpstr>Step 5A: Force-Tip Linear Region Fitting: SPO</vt:lpstr>
      <vt:lpstr>Step 5B: Linear Stiffness Results Across Interventions</vt:lpstr>
      <vt:lpstr>Linear Stiffness Ranking</vt:lpstr>
      <vt:lpstr>Step 6A: Moment-Theta Processing: Intact</vt:lpstr>
      <vt:lpstr>Step 6A: Moment-Theta Processing: PUF</vt:lpstr>
      <vt:lpstr>Step 6A: Moment-Theta Processing: FUF</vt:lpstr>
      <vt:lpstr>Step 6A: Moment-Theta Processing: FBF</vt:lpstr>
      <vt:lpstr>Step 6A: Moment-Theta Processing: Posterior Release</vt:lpstr>
      <vt:lpstr>Step 6A: Moment-Theta Processing: SPO</vt:lpstr>
      <vt:lpstr>Step 6B: Rotational Stiffness Results Across Interventions</vt:lpstr>
      <vt:lpstr>Rotational Stiffness Ranking</vt:lpstr>
      <vt:lpstr>Appended Update: Fit-Point Rules</vt:lpstr>
      <vt:lpstr>Appendix: Filters Used</vt:lpstr>
      <vt:lpstr>Key Takeaways</vt:lpstr>
      <vt:lpstr>PowerPoint Presentation</vt:lpstr>
      <vt:lpstr>MTS Flexion/Extension – All Interventions</vt:lpstr>
      <vt:lpstr>MTS FE (Native Axes): Extension 0-5 and Flexion 0 to -5 Nm Secant Fit Panels</vt:lpstr>
      <vt:lpstr>MTS Flexion: Comparison of Different Stiffness Metrics</vt:lpstr>
      <vt:lpstr>Intervention Effect For Flexion</vt:lpstr>
      <vt:lpstr>Brainstorming – Model Scaling</vt:lpstr>
      <vt:lpstr>Cadaver Lab Goals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Comparison of Intraoperative Stiffness with Literature</vt:lpstr>
      <vt:lpstr>Comparison of Measurement Side</vt:lpstr>
      <vt:lpstr>Comparison of Spine Levels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Riza Bayoglu</dc:creator>
  <cp:keywords/>
  <dc:description>generated using python-pptx</dc:description>
  <cp:lastModifiedBy>Riza Bayoglu</cp:lastModifiedBy>
  <cp:revision>100</cp:revision>
  <dcterms:created xsi:type="dcterms:W3CDTF">2013-01-27T09:14:16Z</dcterms:created>
  <dcterms:modified xsi:type="dcterms:W3CDTF">2026-10-14T20:10:45Z</dcterms:modified>
  <cp:category/>
</cp:coreProperties>
</file>