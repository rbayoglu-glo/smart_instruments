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7" r:id="rId10"/>
    <p:sldId id="268" r:id="rId11"/>
    <p:sldId id="269" r:id="rId12"/>
    <p:sldId id="272" r:id="rId13"/>
    <p:sldId id="265" r:id="rId14"/>
    <p:sldId id="266" r:id="rId15"/>
    <p:sldId id="270" r:id="rId16"/>
    <p:sldId id="271" r:id="rId17"/>
    <p:sldId id="273" r:id="rId18"/>
    <p:sldId id="274" r:id="rId19"/>
    <p:sldId id="294" r:id="rId20"/>
    <p:sldId id="258" r:id="rId21"/>
    <p:sldId id="295" r:id="rId22"/>
    <p:sldId id="296" r:id="rId23"/>
    <p:sldId id="297" r:id="rId24"/>
    <p:sldId id="298" r:id="rId25"/>
    <p:sldId id="299" r:id="rId26"/>
    <p:sldId id="300" r:id="rId27"/>
    <p:sldId id="301" r:id="rId28"/>
    <p:sldId id="302" r:id="rId29"/>
    <p:sldId id="303" r:id="rId30"/>
    <p:sldId id="304" r:id="rId31"/>
    <p:sldId id="305" r:id="rId32"/>
    <p:sldId id="306" r:id="rId33"/>
    <p:sldId id="307" r:id="rId34"/>
    <p:sldId id="308" r:id="rId35"/>
    <p:sldId id="309" r:id="rId36"/>
    <p:sldId id="310" r:id="rId37"/>
    <p:sldId id="311" r:id="rId38"/>
    <p:sldId id="312" r:id="rId39"/>
    <p:sldId id="313" r:id="rId40"/>
    <p:sldId id="314" r:id="rId41"/>
    <p:sldId id="315" r:id="rId42"/>
    <p:sldId id="316" r:id="rId43"/>
    <p:sldId id="275" r:id="rId44"/>
    <p:sldId id="276" r:id="rId45"/>
    <p:sldId id="277" r:id="rId46"/>
    <p:sldId id="278" r:id="rId47"/>
    <p:sldId id="279" r:id="rId48"/>
    <p:sldId id="280" r:id="rId49"/>
    <p:sldId id="281" r:id="rId50"/>
    <p:sldId id="282" r:id="rId51"/>
    <p:sldId id="283" r:id="rId52"/>
    <p:sldId id="284" r:id="rId53"/>
    <p:sldId id="285" r:id="rId54"/>
    <p:sldId id="286" r:id="rId55"/>
    <p:sldId id="287" r:id="rId56"/>
    <p:sldId id="288" r:id="rId57"/>
    <p:sldId id="289" r:id="rId58"/>
    <p:sldId id="290" r:id="rId59"/>
    <p:sldId id="291" r:id="rId60"/>
    <p:sldId id="292" r:id="rId61"/>
    <p:sldId id="293" r:id="rId6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90" y="25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200" b="1" dirty="0"/>
              <a:t>MTS Testing Data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/>
            </a:pPr>
            <a:r>
              <a:rPr dirty="0"/>
              <a:t>Updated 2026-08-19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 dirty="0"/>
              <a:t>Method Snapshot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157665" cy="1323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rPr dirty="0"/>
              <a:t>Input: MTS 6DOF Book*.xlsx grouped as FE, LB, AR per intervention</a:t>
            </a:r>
          </a:p>
          <a:p>
            <a:pPr>
              <a:defRPr sz="2000"/>
            </a:pPr>
            <a:r>
              <a:rPr dirty="0"/>
              <a:t>Cycle basis: third cycle, centered avg(load/unload)</a:t>
            </a:r>
          </a:p>
          <a:p>
            <a:pPr>
              <a:defRPr sz="2000"/>
            </a:pPr>
            <a:r>
              <a:rPr dirty="0"/>
              <a:t>Model: M(theta) = C1*theta + C2*theta^2 + C3*theta^3</a:t>
            </a:r>
          </a:p>
          <a:p>
            <a:pPr>
              <a:defRPr sz="2000"/>
            </a:pPr>
            <a:r>
              <a:rPr dirty="0"/>
              <a:t>Plot orientation: angle on x-axis, moment on y-axis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 dirty="0"/>
              <a:t>Intact</a:t>
            </a:r>
          </a:p>
        </p:txBody>
      </p:sp>
      <p:pic>
        <p:nvPicPr>
          <p:cNvPr id="3" name="Picture 2" descr="Intact_stiff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638"/>
            <a:ext cx="11247120" cy="31066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 dirty="0"/>
              <a:t>Intervention: PUF Left</a:t>
            </a:r>
          </a:p>
        </p:txBody>
      </p:sp>
      <p:pic>
        <p:nvPicPr>
          <p:cNvPr id="3" name="Picture 2" descr="PUBF_Left_stiff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39795"/>
            <a:ext cx="11247120" cy="31066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Intervention: FUF Left</a:t>
            </a:r>
          </a:p>
        </p:txBody>
      </p:sp>
      <p:pic>
        <p:nvPicPr>
          <p:cNvPr id="3" name="Picture 2" descr="FUF_Left_stiff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" y="1268233"/>
            <a:ext cx="11247120" cy="31066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Intervention: FBF</a:t>
            </a:r>
          </a:p>
        </p:txBody>
      </p:sp>
      <p:pic>
        <p:nvPicPr>
          <p:cNvPr id="3" name="Picture 2" descr="FBF_stiff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40" y="1338125"/>
            <a:ext cx="11247120" cy="31066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Intervention: Posterior Release</a:t>
            </a:r>
          </a:p>
        </p:txBody>
      </p:sp>
      <p:pic>
        <p:nvPicPr>
          <p:cNvPr id="3" name="Picture 2" descr="Posterior_Release_stiff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3892"/>
            <a:ext cx="11247120" cy="31066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Intervention: SPO</a:t>
            </a:r>
          </a:p>
        </p:txBody>
      </p:sp>
      <p:pic>
        <p:nvPicPr>
          <p:cNvPr id="3" name="Picture 2" descr="SPO_stiff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638"/>
            <a:ext cx="11247120" cy="31066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33414-8968-3D87-C3FC-0FAD339F3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A3EAB-3FF4-7A89-D15F-D3E600942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27566"/>
            <a:ext cx="8229600" cy="1143000"/>
          </a:xfrm>
        </p:spPr>
        <p:txBody>
          <a:bodyPr/>
          <a:lstStyle/>
          <a:p>
            <a:r>
              <a:rPr lang="en-US" sz="2600" b="1" dirty="0"/>
              <a:t>Flexion/Extension – All </a:t>
            </a:r>
            <a:r>
              <a:rPr sz="2600" b="1" dirty="0"/>
              <a:t>Intervention</a:t>
            </a:r>
            <a:r>
              <a:rPr lang="en-US" sz="2600" b="1" dirty="0"/>
              <a:t>s</a:t>
            </a:r>
            <a:endParaRPr sz="26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AB2047-B4F6-41ED-119C-1EF8A3810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46076"/>
            <a:ext cx="4694453" cy="3489013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30E1CBE-81C0-6E1F-2511-D04C8A104B77}"/>
              </a:ext>
            </a:extLst>
          </p:cNvPr>
          <p:cNvCxnSpPr>
            <a:cxnSpLocks/>
          </p:cNvCxnSpPr>
          <p:nvPr/>
        </p:nvCxnSpPr>
        <p:spPr>
          <a:xfrm flipV="1">
            <a:off x="1486894" y="3260035"/>
            <a:ext cx="580447" cy="16777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BB85B3B-A8B2-8334-0F1C-D4D2DFC12F9B}"/>
              </a:ext>
            </a:extLst>
          </p:cNvPr>
          <p:cNvSpPr txBox="1"/>
          <p:nvPr/>
        </p:nvSpPr>
        <p:spPr>
          <a:xfrm>
            <a:off x="344994" y="5090246"/>
            <a:ext cx="2864246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similar stiffness up to ~8 deg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266550-413E-DE75-DC3C-38FD488AAB80}"/>
              </a:ext>
            </a:extLst>
          </p:cNvPr>
          <p:cNvSpPr txBox="1"/>
          <p:nvPr/>
        </p:nvSpPr>
        <p:spPr>
          <a:xfrm>
            <a:off x="5272195" y="1905762"/>
            <a:ext cx="66627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PLL release and SPO significantly decreased extension stiffness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Facetectomy decreased it as well but to a lesser extent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Continuous loss of stability with increasing bony/tissue resections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841496-2D4F-06E0-310F-24BECA7D863E}"/>
              </a:ext>
            </a:extLst>
          </p:cNvPr>
          <p:cNvSpPr txBox="1"/>
          <p:nvPr/>
        </p:nvSpPr>
        <p:spPr>
          <a:xfrm>
            <a:off x="2067341" y="4170509"/>
            <a:ext cx="681824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200" dirty="0"/>
              <a:t>Flexion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8055E10-3A3A-900A-577B-DBC86BD0E88C}"/>
              </a:ext>
            </a:extLst>
          </p:cNvPr>
          <p:cNvSpPr txBox="1"/>
          <p:nvPr/>
        </p:nvSpPr>
        <p:spPr>
          <a:xfrm>
            <a:off x="4283433" y="2631868"/>
            <a:ext cx="789499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200" dirty="0"/>
              <a:t>Extension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1CB60E-BC30-9B8E-5B07-927DE817EAC1}"/>
              </a:ext>
            </a:extLst>
          </p:cNvPr>
          <p:cNvSpPr txBox="1"/>
          <p:nvPr/>
        </p:nvSpPr>
        <p:spPr>
          <a:xfrm>
            <a:off x="5272194" y="3441111"/>
            <a:ext cx="65513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all interventions, stiffness</a:t>
            </a:r>
            <a:r>
              <a:rPr lang="en-US" sz="1800" dirty="0"/>
              <a:t> is unchanged until around 8 deg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Facetectomy lowers stiffness afterwards                     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A907FB-03D7-9E43-08C9-D3B993CB7C63}"/>
              </a:ext>
            </a:extLst>
          </p:cNvPr>
          <p:cNvSpPr txBox="1"/>
          <p:nvPr/>
        </p:nvSpPr>
        <p:spPr>
          <a:xfrm>
            <a:off x="5272195" y="1510672"/>
            <a:ext cx="1433781" cy="3693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/>
              <a:t>Extension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4DD1D3-FB71-4C30-07E6-CCFF0F18F07B}"/>
              </a:ext>
            </a:extLst>
          </p:cNvPr>
          <p:cNvSpPr txBox="1"/>
          <p:nvPr/>
        </p:nvSpPr>
        <p:spPr>
          <a:xfrm>
            <a:off x="5272195" y="3084301"/>
            <a:ext cx="1433781" cy="3693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/>
              <a:t>Flexion</a:t>
            </a:r>
          </a:p>
        </p:txBody>
      </p:sp>
    </p:spTree>
    <p:extLst>
      <p:ext uri="{BB962C8B-B14F-4D97-AF65-F5344CB8AC3E}">
        <p14:creationId xmlns:p14="http://schemas.microsoft.com/office/powerpoint/2010/main" val="20797313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F25F2-F5C0-D23B-E1D7-DBE8BD851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5E906-B3B1-A058-A29B-BD32E1559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b="1" dirty="0"/>
              <a:t>Lateral Bending – All </a:t>
            </a:r>
            <a:r>
              <a:rPr sz="2600" b="1" dirty="0"/>
              <a:t>Intervention</a:t>
            </a:r>
            <a:r>
              <a:rPr lang="en-US" sz="2600" b="1" dirty="0"/>
              <a:t>s</a:t>
            </a:r>
            <a:endParaRPr sz="26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0879B1-4D97-B89E-ABCD-FEF7E772D6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4305" y="1417638"/>
            <a:ext cx="6323496" cy="46916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D1D269-8915-F4B2-E7E0-608E642AC98A}"/>
              </a:ext>
            </a:extLst>
          </p:cNvPr>
          <p:cNvSpPr txBox="1"/>
          <p:nvPr/>
        </p:nvSpPr>
        <p:spPr>
          <a:xfrm>
            <a:off x="7122050" y="3343402"/>
            <a:ext cx="455544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200" dirty="0"/>
              <a:t>Left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3ED23E-BC0F-3706-1711-5CAD18E83017}"/>
              </a:ext>
            </a:extLst>
          </p:cNvPr>
          <p:cNvSpPr txBox="1"/>
          <p:nvPr/>
        </p:nvSpPr>
        <p:spPr>
          <a:xfrm>
            <a:off x="4094371" y="5389430"/>
            <a:ext cx="541682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200" dirty="0"/>
              <a:t>Right</a:t>
            </a:r>
          </a:p>
        </p:txBody>
      </p:sp>
    </p:spTree>
    <p:extLst>
      <p:ext uri="{BB962C8B-B14F-4D97-AF65-F5344CB8AC3E}">
        <p14:creationId xmlns:p14="http://schemas.microsoft.com/office/powerpoint/2010/main" val="22541011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CB0CC-77DB-E8A9-E320-593B0B6E4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FC431-2484-92C1-F355-52E0539C4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b="1" dirty="0"/>
              <a:t>Axial Rotation – All </a:t>
            </a:r>
            <a:r>
              <a:rPr sz="2600" b="1" dirty="0"/>
              <a:t>Intervention</a:t>
            </a:r>
            <a:r>
              <a:rPr lang="en-US" sz="2600" b="1" dirty="0"/>
              <a:t>s</a:t>
            </a:r>
            <a:endParaRPr sz="26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9E27D0-C3CC-9DEC-D36E-3CED86DECB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56" y="1417638"/>
            <a:ext cx="6594344" cy="487480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1A49559-00D1-5323-FEC1-1F9D56F3F781}"/>
              </a:ext>
            </a:extLst>
          </p:cNvPr>
          <p:cNvSpPr txBox="1"/>
          <p:nvPr/>
        </p:nvSpPr>
        <p:spPr>
          <a:xfrm>
            <a:off x="7067716" y="3433727"/>
            <a:ext cx="455544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200" dirty="0"/>
              <a:t>Left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C66D26-35B4-F06D-BF56-AAE9157E68C6}"/>
              </a:ext>
            </a:extLst>
          </p:cNvPr>
          <p:cNvSpPr txBox="1"/>
          <p:nvPr/>
        </p:nvSpPr>
        <p:spPr>
          <a:xfrm>
            <a:off x="3316025" y="5540160"/>
            <a:ext cx="541682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200" dirty="0"/>
              <a:t>Right</a:t>
            </a:r>
          </a:p>
        </p:txBody>
      </p:sp>
    </p:spTree>
    <p:extLst>
      <p:ext uri="{BB962C8B-B14F-4D97-AF65-F5344CB8AC3E}">
        <p14:creationId xmlns:p14="http://schemas.microsoft.com/office/powerpoint/2010/main" val="4500979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04C09-5CCE-B0BB-C3EB-C195D735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0E448-FDC7-F1E1-CBDF-3F6ECA92B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 dirty="0"/>
              <a:t>MTS Flexion: </a:t>
            </a:r>
            <a:r>
              <a:rPr lang="en-US" sz="2600" b="1" dirty="0"/>
              <a:t>Comparison of Different Stiffness Metrics</a:t>
            </a:r>
            <a:endParaRPr sz="26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4ACF28-3278-7FD9-37D0-2D3706B975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638"/>
            <a:ext cx="4300753" cy="31964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FC87C3B-805F-5F7F-72E3-56C9AAD877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782" y="1407478"/>
            <a:ext cx="5342734" cy="256032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0BE6BBB-DEFC-D498-310E-3DB7CAA626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5055" y="4030662"/>
            <a:ext cx="5342734" cy="25603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6AE1BC5-CE75-58E6-B24F-394B3261CFED}"/>
              </a:ext>
            </a:extLst>
          </p:cNvPr>
          <p:cNvSpPr txBox="1"/>
          <p:nvPr/>
        </p:nvSpPr>
        <p:spPr>
          <a:xfrm>
            <a:off x="1847520" y="4030662"/>
            <a:ext cx="681824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200" dirty="0"/>
              <a:t>Flexion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2A03EA-A7C8-9E2B-AAD2-88AEB180722F}"/>
              </a:ext>
            </a:extLst>
          </p:cNvPr>
          <p:cNvSpPr txBox="1"/>
          <p:nvPr/>
        </p:nvSpPr>
        <p:spPr>
          <a:xfrm>
            <a:off x="3888683" y="2560638"/>
            <a:ext cx="789499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200" dirty="0"/>
              <a:t>Extension</a:t>
            </a:r>
          </a:p>
        </p:txBody>
      </p:sp>
    </p:spTree>
    <p:extLst>
      <p:ext uri="{BB962C8B-B14F-4D97-AF65-F5344CB8AC3E}">
        <p14:creationId xmlns:p14="http://schemas.microsoft.com/office/powerpoint/2010/main" val="7972126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 dirty="0"/>
              <a:t>MTS Flexion: 1-5 Nm </a:t>
            </a:r>
            <a:r>
              <a:rPr lang="en-US" sz="2600" b="1" dirty="0"/>
              <a:t>Linear </a:t>
            </a:r>
            <a:r>
              <a:rPr sz="2600" b="1" dirty="0"/>
              <a:t>Fit Panels</a:t>
            </a:r>
          </a:p>
        </p:txBody>
      </p:sp>
      <p:pic>
        <p:nvPicPr>
          <p:cNvPr id="3" name="Picture 2" descr="mts_flexion_1to5_linear_fit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60860"/>
            <a:ext cx="10547405" cy="509347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MTS Flexion: 1-5 Nm Stiffness Bar</a:t>
            </a:r>
          </a:p>
        </p:txBody>
      </p:sp>
      <p:pic>
        <p:nvPicPr>
          <p:cNvPr id="3" name="Picture 2" descr="mts_flexion_1to5_linear_fit_stiffnes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60293"/>
            <a:ext cx="9473979" cy="491674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444D0-210C-2E0D-88A5-EC0E98B1E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5B507-0BA6-2C2D-33FD-F2D7B0244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 dirty="0"/>
              <a:t>MTS Flexion: 1-5 Nm </a:t>
            </a:r>
            <a:r>
              <a:rPr lang="en-US" sz="2600" b="1" dirty="0"/>
              <a:t>Two-Point Stiffness</a:t>
            </a:r>
            <a:endParaRPr sz="26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E4E5A7-D467-55DD-16AD-81FAF2B9CE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199" y="1393298"/>
            <a:ext cx="9515575" cy="46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9287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4AA9F-E7CC-312D-D38C-FAE69FD9E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81B41-6DBF-83CE-41AA-722A8C534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MTS Flexion: 1-5 Nm Stiffness Bar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1CCCE2-F39E-C5D2-652D-096C0548C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49400"/>
            <a:ext cx="8838313" cy="4502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0375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7E5B7-8FF4-60D8-8220-F7F7F07AA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37C1A-63D4-6F72-306F-BEEE5173C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b="1" dirty="0"/>
              <a:t>Comparison with Literature (Zhang 2020)</a:t>
            </a:r>
            <a:endParaRPr sz="26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BDCB73-B235-1085-435C-E03F992B21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884" y="1417639"/>
            <a:ext cx="5371162" cy="36623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5BEF7B-D848-6203-6C5D-F90FC9E27D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30" y="1366838"/>
            <a:ext cx="5461427" cy="523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4426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B21543A-ADF5-B3B4-48E3-E0CC8ECB07A6}"/>
              </a:ext>
            </a:extLst>
          </p:cNvPr>
          <p:cNvSpPr txBox="1">
            <a:spLocks/>
          </p:cNvSpPr>
          <p:nvPr/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 dirty="0"/>
              <a:t>Lamina Spreader Testing Data Summary</a:t>
            </a:r>
          </a:p>
        </p:txBody>
      </p:sp>
    </p:spTree>
    <p:extLst>
      <p:ext uri="{BB962C8B-B14F-4D97-AF65-F5344CB8AC3E}">
        <p14:creationId xmlns:p14="http://schemas.microsoft.com/office/powerpoint/2010/main" val="36936720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Workflow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88136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/>
            </a:pPr>
            <a:r>
              <a:rPr dirty="0"/>
              <a:t>1. Sync-check raw force and raw theta traces across interventions.</a:t>
            </a:r>
          </a:p>
          <a:p>
            <a:pPr>
              <a:defRPr sz="1900"/>
            </a:pPr>
            <a:r>
              <a:rPr dirty="0"/>
              <a:t>2. Apply force/theta filters only (no theta0 extraction yet).</a:t>
            </a:r>
          </a:p>
          <a:p>
            <a:pPr>
              <a:defRPr sz="1900"/>
            </a:pPr>
            <a:r>
              <a:rPr dirty="0"/>
              <a:t>3. Apply preload removal + theta0 baseline extraction + ramp-start detection with theta snap.</a:t>
            </a:r>
          </a:p>
          <a:p>
            <a:pPr>
              <a:defRPr sz="1900"/>
            </a:pPr>
            <a:r>
              <a:rPr dirty="0"/>
              <a:t>4. Mark transition-flagged cycles as ineligible.</a:t>
            </a:r>
          </a:p>
          <a:p>
            <a:pPr>
              <a:defRPr sz="1900"/>
            </a:pPr>
            <a:r>
              <a:rPr dirty="0"/>
              <a:t>5. Fit force-tip linear region using displacement &gt;= 0 mm points (some cycles can fail fit criteria).</a:t>
            </a:r>
          </a:p>
          <a:p>
            <a:pPr>
              <a:defRPr sz="1900"/>
            </a:pPr>
            <a:r>
              <a:rPr dirty="0"/>
              <a:t>6. Fit moment-theta linear region using theta &gt;= 0 deg points (some cycles can fail fit criteria).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 dirty="0"/>
              <a:t>Step 1: Raw Force-Theta Sync Check</a:t>
            </a:r>
          </a:p>
        </p:txBody>
      </p:sp>
      <p:pic>
        <p:nvPicPr>
          <p:cNvPr id="3" name="Picture 2" descr="sync_check_all_interventions_sta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69521"/>
            <a:ext cx="11247120" cy="108454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All interventions stacked before filtering/corrections.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Step 2: Filtering Only (No Theta0 Yet)</a:t>
            </a:r>
          </a:p>
        </p:txBody>
      </p:sp>
      <p:pic>
        <p:nvPicPr>
          <p:cNvPr id="3" name="Picture 2" descr="sync_check_all_interventions_stacked_filtered_ramp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69521"/>
            <a:ext cx="11247120" cy="108454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Filtered force/theta signals only; no theta0 extraction or preload removal in this step.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Step 3: Preload Removal + Theta0 + Ramp-Start Snap</a:t>
            </a:r>
          </a:p>
        </p:txBody>
      </p:sp>
      <p:pic>
        <p:nvPicPr>
          <p:cNvPr id="3" name="Picture 2" descr="sync_check_all_interventions_stacked_filtered_rampstart_preloadfree_theta0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69521"/>
            <a:ext cx="11247120" cy="108454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Signals after preload removal, theta0 baseline extraction, and ramp-start detection with theta snap.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Step 4: Mark And Exclude Ineligible Cycles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51560"/>
            <a:ext cx="11064240" cy="5440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latin typeface="Consolas"/>
              </a:defRPr>
            </a:pPr>
            <a:r>
              <a:rPr dirty="0"/>
              <a:t>Step 4: Cycle Eligibility (Transition-Flag Filtering)</a:t>
            </a:r>
          </a:p>
          <a:p>
            <a:pPr>
              <a:defRPr sz="1200">
                <a:latin typeface="Consolas"/>
              </a:defRPr>
            </a:pPr>
            <a:endParaRPr dirty="0"/>
          </a:p>
          <a:p>
            <a:pPr>
              <a:defRPr sz="1200">
                <a:latin typeface="Consolas"/>
              </a:defRPr>
            </a:pPr>
            <a:r>
              <a:rPr dirty="0"/>
              <a:t>Intervention              </a:t>
            </a:r>
            <a:r>
              <a:rPr dirty="0" err="1"/>
              <a:t>n_cycles</a:t>
            </a:r>
            <a:r>
              <a:rPr dirty="0"/>
              <a:t>   eligible   ineligible</a:t>
            </a:r>
          </a:p>
          <a:p>
            <a:pPr>
              <a:defRPr sz="1200">
                <a:latin typeface="Consolas"/>
              </a:defRPr>
            </a:pPr>
            <a:r>
              <a:rPr dirty="0"/>
              <a:t>---------------------------------------------------------</a:t>
            </a:r>
          </a:p>
          <a:p>
            <a:pPr>
              <a:defRPr sz="1200">
                <a:latin typeface="Consolas"/>
              </a:defRPr>
            </a:pPr>
            <a:r>
              <a:rPr dirty="0"/>
              <a:t>FBF                             9          9            0</a:t>
            </a:r>
          </a:p>
          <a:p>
            <a:pPr>
              <a:defRPr sz="1200">
                <a:latin typeface="Consolas"/>
              </a:defRPr>
            </a:pPr>
            <a:r>
              <a:rPr dirty="0"/>
              <a:t>FUF                             9          9            0</a:t>
            </a:r>
          </a:p>
          <a:p>
            <a:pPr>
              <a:defRPr sz="1200">
                <a:latin typeface="Consolas"/>
              </a:defRPr>
            </a:pPr>
            <a:r>
              <a:rPr dirty="0"/>
              <a:t>Intact                          9          9            0</a:t>
            </a:r>
          </a:p>
          <a:p>
            <a:pPr>
              <a:defRPr sz="1200">
                <a:latin typeface="Consolas"/>
              </a:defRPr>
            </a:pPr>
            <a:r>
              <a:rPr dirty="0"/>
              <a:t>PUF                             9          9            0</a:t>
            </a:r>
          </a:p>
          <a:p>
            <a:pPr>
              <a:defRPr sz="1200">
                <a:latin typeface="Consolas"/>
              </a:defRPr>
            </a:pPr>
            <a:r>
              <a:rPr dirty="0"/>
              <a:t>Posterior Release              10         10            0</a:t>
            </a:r>
          </a:p>
          <a:p>
            <a:pPr>
              <a:defRPr sz="1200">
                <a:latin typeface="Consolas"/>
              </a:defRPr>
            </a:pPr>
            <a:r>
              <a:rPr dirty="0"/>
              <a:t>SPO                             9          6            3</a:t>
            </a:r>
          </a:p>
          <a:p>
            <a:pPr>
              <a:defRPr sz="1200">
                <a:latin typeface="Consolas"/>
              </a:defRPr>
            </a:pPr>
            <a:endParaRPr dirty="0"/>
          </a:p>
          <a:p>
            <a:pPr>
              <a:defRPr sz="1200">
                <a:latin typeface="Consolas"/>
              </a:defRPr>
            </a:pPr>
            <a:r>
              <a:rPr dirty="0"/>
              <a:t>Rule: transition-flagged cycles are excluded from stiffness fitting.</a:t>
            </a:r>
          </a:p>
          <a:p>
            <a:pPr>
              <a:defRPr sz="1200">
                <a:latin typeface="Consolas"/>
              </a:defRPr>
            </a:pPr>
            <a:r>
              <a:rPr dirty="0"/>
              <a:t>Note: ineligible here only counts </a:t>
            </a:r>
            <a:r>
              <a:rPr dirty="0" err="1"/>
              <a:t>transition_flag</a:t>
            </a:r>
            <a:r>
              <a:rPr dirty="0"/>
              <a:t>=True cycles.</a:t>
            </a:r>
          </a:p>
          <a:p>
            <a:pPr>
              <a:defRPr sz="1200">
                <a:latin typeface="Consolas"/>
              </a:defRPr>
            </a:pPr>
            <a:endParaRPr dirty="0"/>
          </a:p>
          <a:p>
            <a:pPr>
              <a:defRPr sz="1200">
                <a:latin typeface="Consolas"/>
              </a:defRPr>
            </a:pPr>
            <a:r>
              <a:rPr dirty="0"/>
              <a:t>Additional exclusions can occur later at fit stage (separate from transition flags):</a:t>
            </a:r>
          </a:p>
          <a:p>
            <a:pPr>
              <a:defRPr sz="1200">
                <a:latin typeface="Consolas"/>
              </a:defRPr>
            </a:pPr>
            <a:r>
              <a:rPr dirty="0"/>
              <a:t>Intervention              force-fit excluded   moment-fit excluded</a:t>
            </a:r>
          </a:p>
          <a:p>
            <a:pPr>
              <a:defRPr sz="1200">
                <a:latin typeface="Consolas"/>
              </a:defRPr>
            </a:pPr>
            <a:r>
              <a:rPr dirty="0"/>
              <a:t>--------------------------------------------------------------</a:t>
            </a:r>
          </a:p>
          <a:p>
            <a:pPr>
              <a:defRPr sz="1200">
                <a:latin typeface="Consolas"/>
              </a:defRPr>
            </a:pPr>
            <a:r>
              <a:rPr dirty="0"/>
              <a:t>FBF                                       0                     0</a:t>
            </a:r>
          </a:p>
          <a:p>
            <a:pPr>
              <a:defRPr sz="1200">
                <a:latin typeface="Consolas"/>
              </a:defRPr>
            </a:pPr>
            <a:r>
              <a:rPr dirty="0"/>
              <a:t>FUF                                       0                     0</a:t>
            </a:r>
          </a:p>
          <a:p>
            <a:pPr>
              <a:defRPr sz="1200">
                <a:latin typeface="Consolas"/>
              </a:defRPr>
            </a:pPr>
            <a:r>
              <a:rPr dirty="0"/>
              <a:t>Intact                                    1                     1</a:t>
            </a:r>
          </a:p>
          <a:p>
            <a:pPr>
              <a:defRPr sz="1200">
                <a:latin typeface="Consolas"/>
              </a:defRPr>
            </a:pPr>
            <a:r>
              <a:rPr dirty="0"/>
              <a:t>PUF                                       0                     0</a:t>
            </a:r>
          </a:p>
          <a:p>
            <a:pPr>
              <a:defRPr sz="1200">
                <a:latin typeface="Consolas"/>
              </a:defRPr>
            </a:pPr>
            <a:r>
              <a:rPr dirty="0"/>
              <a:t>Posterior Release                         0                     0</a:t>
            </a:r>
          </a:p>
          <a:p>
            <a:pPr>
              <a:defRPr sz="1200">
                <a:latin typeface="Consolas"/>
              </a:defRPr>
            </a:pPr>
            <a:r>
              <a:rPr dirty="0"/>
              <a:t>SPO                                       3                     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Step 5A: Force-Tip Linear Region Fitting: Intact</a:t>
            </a:r>
          </a:p>
        </p:txBody>
      </p:sp>
      <p:pic>
        <p:nvPicPr>
          <p:cNvPr id="3" name="Picture 2" descr="2___Intact_Holding_Longer_all_cycles_force_tip_linear_region_stiff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101668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Cycle-wise linear windows and per-cycle stiffness (fit uses displacement &gt;= 0 mm; shared force y-limits) for Intact.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Step 5A: Force-Tip Linear Region Fitting: PUF</a:t>
            </a:r>
          </a:p>
        </p:txBody>
      </p:sp>
      <p:pic>
        <p:nvPicPr>
          <p:cNvPr id="3" name="Picture 2" descr="3___PUBF_Left_all_cycles_force_tip_linear_region_stiff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101668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Cycle-wise linear windows and per-cycle stiffness (fit uses displacement &gt;= 0 mm; shared force y-limits) for PUF.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Step 5A: Force-Tip Linear Region Fitting: FUF</a:t>
            </a:r>
          </a:p>
        </p:txBody>
      </p:sp>
      <p:pic>
        <p:nvPicPr>
          <p:cNvPr id="3" name="Picture 2" descr="4___FUF_Left_all_cycles_force_tip_linear_region_stiff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101668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Cycle-wise linear windows and per-cycle stiffness (fit uses displacement &gt;= 0 mm; shared force y-limits) for FUF.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Step 5A: Force-Tip Linear Region Fitting: FBF</a:t>
            </a:r>
          </a:p>
        </p:txBody>
      </p:sp>
      <p:pic>
        <p:nvPicPr>
          <p:cNvPr id="3" name="Picture 2" descr="5___FBF_all_cycles_force_tip_linear_region_stiff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101668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Cycle-wise linear windows and per-cycle stiffness (fit uses displacement &gt;= 0 mm; shared force y-limits) for FBF.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Step 5A: Force-Tip Linear Region Fitting: Posterior Release</a:t>
            </a:r>
          </a:p>
        </p:txBody>
      </p:sp>
      <p:pic>
        <p:nvPicPr>
          <p:cNvPr id="3" name="Picture 2" descr="6___Posterior_Release_all_cycles_force_tip_linear_region_stiff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127086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Cycle-wise linear windows and per-cycle stiffness (fit uses displacement &gt;= 0 mm; shared force y-limits) for Posterior Release.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Step 5A: Force-Tip Linear Region Fitting: SPO</a:t>
            </a:r>
          </a:p>
        </p:txBody>
      </p:sp>
      <p:pic>
        <p:nvPicPr>
          <p:cNvPr id="3" name="Picture 2" descr="7___SPO_all_cycles_force_tip_linear_region_stiff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40" y="1499918"/>
            <a:ext cx="11247120" cy="101668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Cycle-wise linear windows and per-cycle stiffness (fit uses displacement &gt;= 0 mm; shared force y-limits) for SPO.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Step 5B: Linear Stiffness Results Across Interventions</a:t>
            </a:r>
          </a:p>
        </p:txBody>
      </p:sp>
      <p:pic>
        <p:nvPicPr>
          <p:cNvPr id="3" name="Picture 2" descr="all_interventions_linear_region_stiffness_mean_std_bar_by_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55789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Mean ± SD from valid cycles (force-tip linear-region stiffness).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Linear Stiffness Ranking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68680"/>
            <a:ext cx="11064240" cy="5440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latin typeface="Consolas"/>
              </a:defRPr>
            </a:pPr>
            <a:r>
              <a:t>Step 6A Results: Linear-Region Force-Tip Stiffness</a:t>
            </a:r>
          </a:p>
          <a:p>
            <a:pPr>
              <a:defRPr sz="1200">
                <a:latin typeface="Consolas"/>
              </a:defRPr>
            </a:pPr>
            <a:endParaRPr/>
          </a:p>
          <a:p>
            <a:pPr>
              <a:defRPr sz="1200">
                <a:latin typeface="Consolas"/>
              </a:defRPr>
            </a:pPr>
            <a:r>
              <a:t>Rank  Intervention            median [N/mm]    mean [N/mm]   n_valid/n_cycles</a:t>
            </a:r>
          </a:p>
          <a:p>
            <a:pPr>
              <a:defRPr sz="1200">
                <a:latin typeface="Consolas"/>
              </a:defRPr>
            </a:pPr>
            <a:r>
              <a:t>--------------------------------------------------------------------------</a:t>
            </a:r>
          </a:p>
          <a:p>
            <a:pPr>
              <a:defRPr sz="1200">
                <a:latin typeface="Consolas"/>
              </a:defRPr>
            </a:pPr>
            <a:r>
              <a:t>   1  SPO                          8.158          7.037      6/9</a:t>
            </a:r>
          </a:p>
          <a:p>
            <a:pPr>
              <a:defRPr sz="1200">
                <a:latin typeface="Consolas"/>
              </a:defRPr>
            </a:pPr>
            <a:r>
              <a:t>   2  FUF                          8.158          7.851      9/9</a:t>
            </a:r>
          </a:p>
          <a:p>
            <a:pPr>
              <a:defRPr sz="1200">
                <a:latin typeface="Consolas"/>
              </a:defRPr>
            </a:pPr>
            <a:r>
              <a:t>   3  Posterior Release            7.716          8.775      10/10</a:t>
            </a:r>
          </a:p>
          <a:p>
            <a:pPr>
              <a:defRPr sz="1200">
                <a:latin typeface="Consolas"/>
              </a:defRPr>
            </a:pPr>
            <a:r>
              <a:t>   4  PUF                          7.170          7.450      9/9</a:t>
            </a:r>
          </a:p>
          <a:p>
            <a:pPr>
              <a:defRPr sz="1200">
                <a:latin typeface="Consolas"/>
              </a:defRPr>
            </a:pPr>
            <a:r>
              <a:t>   5  FBF                          7.086          6.495      9/9</a:t>
            </a:r>
          </a:p>
          <a:p>
            <a:pPr>
              <a:defRPr sz="1200">
                <a:latin typeface="Consolas"/>
              </a:defRPr>
            </a:pPr>
            <a:r>
              <a:t>   6  Intact                       4.011          5.483      8/9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Step 6A: Moment-Theta Processing: Intact</a:t>
            </a:r>
          </a:p>
        </p:txBody>
      </p:sp>
      <p:pic>
        <p:nvPicPr>
          <p:cNvPr id="3" name="Picture 2" descr="2___Intact_Holding_Longer_all_cycles_moment_th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103454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Cycle-wise rotational stiffness processing (fit uses theta &gt;= 0 deg; shared theta limits) for Intact.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Step 6A: Moment-Theta Processing: PUF</a:t>
            </a:r>
          </a:p>
        </p:txBody>
      </p:sp>
      <p:pic>
        <p:nvPicPr>
          <p:cNvPr id="3" name="Picture 2" descr="3___PUBF_Left_all_cycles_moment_th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103454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Cycle-wise rotational stiffness processing (fit uses theta &gt;= 0 deg; shared theta limits) for PUF.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Step 6A: Moment-Theta Processing: FUF</a:t>
            </a:r>
          </a:p>
        </p:txBody>
      </p:sp>
      <p:pic>
        <p:nvPicPr>
          <p:cNvPr id="3" name="Picture 2" descr="4___FUF_Left_all_cycles_moment_th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103454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Cycle-wise rotational stiffness processing (fit uses theta &gt;= 0 deg; shared theta limits) for FUF.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Step 6A: Moment-Theta Processing: FBF</a:t>
            </a:r>
          </a:p>
        </p:txBody>
      </p:sp>
      <p:pic>
        <p:nvPicPr>
          <p:cNvPr id="3" name="Picture 2" descr="5___FBF_all_cycles_moment_th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103454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Cycle-wise rotational stiffness processing (fit uses theta &gt;= 0 deg; shared theta limits) for FBF.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Step 6A: Moment-Theta Processing: Posterior Release</a:t>
            </a:r>
          </a:p>
        </p:txBody>
      </p:sp>
      <p:pic>
        <p:nvPicPr>
          <p:cNvPr id="3" name="Picture 2" descr="6___Posterior_Release_all_cycles_moment_th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1293185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Cycle-wise rotational stiffness processing (fit uses theta &gt;= 0 deg; shared theta limits) for Posterior Release.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Step 6A: Moment-Theta Processing: SPO</a:t>
            </a:r>
          </a:p>
        </p:txBody>
      </p:sp>
      <p:pic>
        <p:nvPicPr>
          <p:cNvPr id="3" name="Picture 2" descr="7___SPO_all_cycles_moment_th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103454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Cycle-wise rotational stiffness processing (fit uses theta &gt;= 0 deg; shared theta limits) for SPO.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Step 6B: Rotational Stiffness Results Across Interventions</a:t>
            </a:r>
          </a:p>
        </p:txBody>
      </p:sp>
      <p:pic>
        <p:nvPicPr>
          <p:cNvPr id="3" name="Picture 2" descr="all_interventions_moment_theta_stiffness_mean_std_bar_by_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6212"/>
            <a:ext cx="11247120" cy="55789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Mean ± SD from valid cycles (moment-theta stiffness).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Rotational Stiffness Ranking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68680"/>
            <a:ext cx="11064240" cy="5440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latin typeface="Consolas"/>
              </a:defRPr>
            </a:pPr>
            <a:r>
              <a:t>Step 6B Results: Moment-Theta Rotational Stiffness</a:t>
            </a:r>
          </a:p>
          <a:p>
            <a:pPr>
              <a:defRPr sz="1200">
                <a:latin typeface="Consolas"/>
              </a:defRPr>
            </a:pPr>
            <a:endParaRPr/>
          </a:p>
          <a:p>
            <a:pPr>
              <a:defRPr sz="1200">
                <a:latin typeface="Consolas"/>
              </a:defRPr>
            </a:pPr>
            <a:r>
              <a:t>Rank  Intervention            median [Nm/deg]   mean [Nm/deg]  n_valid/n_cycles</a:t>
            </a:r>
          </a:p>
          <a:p>
            <a:pPr>
              <a:defRPr sz="1200">
                <a:latin typeface="Consolas"/>
              </a:defRPr>
            </a:pPr>
            <a:r>
              <a:t>---------------------------------------------------------------------------</a:t>
            </a:r>
          </a:p>
          <a:p>
            <a:pPr>
              <a:defRPr sz="1200">
                <a:latin typeface="Consolas"/>
              </a:defRPr>
            </a:pPr>
            <a:r>
              <a:t>   1  SPO                            2.476          2.136     6/9</a:t>
            </a:r>
          </a:p>
          <a:p>
            <a:pPr>
              <a:defRPr sz="1200">
                <a:latin typeface="Consolas"/>
              </a:defRPr>
            </a:pPr>
            <a:r>
              <a:t>   2  FUF                            2.476          2.383     9/9</a:t>
            </a:r>
          </a:p>
          <a:p>
            <a:pPr>
              <a:defRPr sz="1200">
                <a:latin typeface="Consolas"/>
              </a:defRPr>
            </a:pPr>
            <a:r>
              <a:t>   3  Posterior Release              2.342          2.663     10/10</a:t>
            </a:r>
          </a:p>
          <a:p>
            <a:pPr>
              <a:defRPr sz="1200">
                <a:latin typeface="Consolas"/>
              </a:defRPr>
            </a:pPr>
            <a:r>
              <a:t>   4  PUF                            2.176          2.261     9/9</a:t>
            </a:r>
          </a:p>
          <a:p>
            <a:pPr>
              <a:defRPr sz="1200">
                <a:latin typeface="Consolas"/>
              </a:defRPr>
            </a:pPr>
            <a:r>
              <a:t>   5  FBF                            2.151          1.971     9/9</a:t>
            </a:r>
          </a:p>
          <a:p>
            <a:pPr>
              <a:defRPr sz="1200">
                <a:latin typeface="Consolas"/>
              </a:defRPr>
            </a:pPr>
            <a:r>
              <a:t>   6  Intact                         1.217          1.664     8/9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Appended Update: Fit-Point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88136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/>
            </a:pPr>
            <a:r>
              <a:t>This version appends re-analysis results with explicit fit-point thresholds.</a:t>
            </a:r>
          </a:p>
          <a:p>
            <a:pPr>
              <a:defRPr sz="1900"/>
            </a:pPr>
            <a:r>
              <a:t>Displacement stiffness fitting: use only displacement &gt;= 0 mm points.</a:t>
            </a:r>
          </a:p>
          <a:p>
            <a:pPr>
              <a:defRPr sz="1900"/>
            </a:pPr>
            <a:r>
              <a:t>Rotational stiffness fitting: use only theta &gt;= 0 deg points.</a:t>
            </a:r>
          </a:p>
          <a:p>
            <a:pPr>
              <a:defRPr sz="1900"/>
            </a:pPr>
            <a:r>
              <a:t>All rankings/tables in this deck reflect these updated fit-selection rules.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Appendix: Filters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88136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/>
            </a:pPr>
            <a:r>
              <a:t>Median filter (theta, kernel=5): replaces each sample with local median; removes isolated spikes while preserving step/ramp edges better than mean smoothing.</a:t>
            </a:r>
          </a:p>
          <a:p>
            <a:pPr>
              <a:defRPr sz="1900"/>
            </a:pPr>
            <a:r>
              <a:t>Butterworth low-pass (order=2): force cutoff=1.5 Hz, theta cutoff=1.2 Hz; attenuates high-frequency noise while preserving low-frequency cycle shape and phase reasonably well.</a:t>
            </a:r>
          </a:p>
          <a:p>
            <a:pPr>
              <a:defRPr sz="1900"/>
            </a:pPr>
            <a:r>
              <a:t>MAD despiking before low-pass: force window=11, z=3.5; theta window=15, z=3.5; robust outlier suppression using rolling median absolute deviation.</a:t>
            </a:r>
          </a:p>
          <a:p>
            <a:pPr>
              <a:defRPr sz="1900"/>
            </a:pPr>
            <a:r>
              <a:t>Pseudo-ramp rejection: keep cycles only if run_samples&gt;=30, rise_time&gt;=1.2 s, and theta_rise&gt;=0.2 deg.</a:t>
            </a:r>
          </a:p>
          <a:p>
            <a:pPr>
              <a:defRPr sz="1900"/>
            </a:pPr>
            <a:r>
              <a:t>Duplicate-peak merge: close peaks are clustered and only strongest candidate retained (time-gap bounds 2.5 to 10.0 s).</a:t>
            </a:r>
          </a:p>
          <a:p>
            <a:pPr>
              <a:defRPr sz="1900"/>
            </a:pPr>
            <a:r>
              <a:t>Theta0 calibration filter: estimate zero-angle from low-force samples (&lt;5% Fmax) but exclude low-force blocks with |median theta|&gt;1.0 deg.</a:t>
            </a:r>
          </a:p>
          <a:p>
            <a:pPr>
              <a:defRPr sz="1900"/>
            </a:pPr>
            <a:r>
              <a:t>Ramp-start theta snap: move force-based ramp start to nearest theta~0 in early ramp window (1.5 s), unless start is already non-neutral (|theta|&gt;1.5 deg).</a:t>
            </a:r>
          </a:p>
          <a:p>
            <a:pPr>
              <a:defRPr sz="1900"/>
            </a:pPr>
            <a:r>
              <a:t>Linear-fit point constraints: displacement fits use x&gt;=0 mm; moment-theta fits use theta&gt;=0 deg; flat low-slope segments removed before regression.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88136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/>
            </a:pPr>
            <a:r>
              <a:t>Step-wise processing narrows from raw traces to quality-controlled cycles.</a:t>
            </a:r>
          </a:p>
          <a:p>
            <a:pPr>
              <a:defRPr sz="1900"/>
            </a:pPr>
            <a:r>
              <a:t>Results are reported in two complementary stiffness spaces:</a:t>
            </a:r>
          </a:p>
          <a:p>
            <a:pPr>
              <a:defRPr sz="1900"/>
            </a:pPr>
            <a:r>
              <a:t>force-tip (N/mm) and moment-theta (Nm/deg).</a:t>
            </a:r>
          </a:p>
          <a:p>
            <a:pPr>
              <a:defRPr sz="1900"/>
            </a:pPr>
            <a:r>
              <a:t>Rankings are based on median stiffness across valid cycles.</a:t>
            </a:r>
          </a:p>
          <a:p>
            <a:pPr>
              <a:defRPr sz="1900"/>
            </a:pPr>
            <a:r>
              <a:t>Fit-point constraints are displacement &gt;= 0 mm and theta &gt;= 0 deg.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35990-1CAB-9B1D-128E-CA7F982D7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A6ED6-5F8B-EFFD-845B-ECFC3EE10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93643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632FD-8135-0EF7-3F97-A7F46E019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3BDA7-8A55-1F88-316D-24846A832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77964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D0FE2-36BD-C2BB-EB9A-550FC6E64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4627D-95CB-9453-467A-453BD398D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646406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AF8DF-E3A5-76B9-4E99-CD30683C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EE2DF-8AFC-980C-3839-B62B2591D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682150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7A6C3-D0A6-D298-EB28-2E7E172DA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E2633-82B8-C0DC-B9FD-167B1EDFD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545106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8E755-4329-CA97-ED54-8E45F891A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51225-17AE-1BD3-5E5D-4B2C53129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008324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2E75E-A380-791D-1CBD-847884F27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A989A-3AFE-F2F0-763E-45CEE8315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62057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3567C-4048-4EE5-D907-79CEC6F86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FEEC3-A86B-F10C-E067-DB4F90A7E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996468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8527A-916D-2EB8-21D0-9C406C7DD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FFD97-035B-697B-AA7B-AC6684591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971624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92BB2-9F1F-CD44-3623-0ACD9EEE6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D6379-BCD3-6008-29CC-9CB1B5A38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763139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36453-F51E-F09E-6890-885D7F6F1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3B185-4178-EB22-E4E6-3D2328046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559271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A4923-4A6B-7A31-FB47-1850CE4E8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94014-818F-6F43-6C27-6960C01B2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8763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B0B02-FDE5-D5E9-1D70-DD25E6EAB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4070E-76C4-182D-C08E-9747CD8DD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91820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0C519-C553-BC9E-5D1D-F35FEBCE5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594A2-E011-9B79-EA96-2E231A370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671946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4356E-F436-9F95-D2EC-B507D792C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240D6-94C0-EE52-DEBA-311DC3800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064200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6439B-5637-3A34-8DA1-6E10D282B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3FD1C-40C5-0F38-8D6F-4C3EF1FFC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05500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C852B-26FC-7AA9-37C9-D69329A52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1BD49-FB9F-6610-D383-2A7536778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976464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F25AC-AB07-79B7-1357-F6E8485A6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D9F60-37AC-3053-FD61-D54E454ED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77100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77B1-EFEA-C137-21E2-FF737DB2E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0E7BF-1A3C-3AC7-B86A-5E5B4868B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61970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990</TotalTime>
  <Words>1342</Words>
  <Application>Microsoft Office PowerPoint</Application>
  <PresentationFormat>Widescreen</PresentationFormat>
  <Paragraphs>146</Paragraphs>
  <Slides>61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MTS Testing Data Summary</vt:lpstr>
      <vt:lpstr>Method Snapshot</vt:lpstr>
      <vt:lpstr>Intact</vt:lpstr>
      <vt:lpstr>Intervention: PUF Left</vt:lpstr>
      <vt:lpstr>Intervention: FUF Left</vt:lpstr>
      <vt:lpstr>Intervention: FBF</vt:lpstr>
      <vt:lpstr>Intervention: Posterior Release</vt:lpstr>
      <vt:lpstr>Intervention: SPO</vt:lpstr>
      <vt:lpstr>Flexion/Extension – All Interventions</vt:lpstr>
      <vt:lpstr>Lateral Bending – All Interventions</vt:lpstr>
      <vt:lpstr>Axial Rotation – All Interventions</vt:lpstr>
      <vt:lpstr>MTS Flexion: Comparison of Different Stiffness Metrics</vt:lpstr>
      <vt:lpstr>MTS Flexion: 1-5 Nm Linear Fit Panels</vt:lpstr>
      <vt:lpstr>MTS Flexion: 1-5 Nm Stiffness Bar</vt:lpstr>
      <vt:lpstr>MTS Flexion: 1-5 Nm Two-Point Stiffness</vt:lpstr>
      <vt:lpstr>MTS Flexion: 1-5 Nm Stiffness Bar</vt:lpstr>
      <vt:lpstr>Comparison with Literature (Zhang 2020)</vt:lpstr>
      <vt:lpstr>PowerPoint Presentation</vt:lpstr>
      <vt:lpstr>Workflow Overview</vt:lpstr>
      <vt:lpstr>Step 1: Raw Force-Theta Sync Check</vt:lpstr>
      <vt:lpstr>Step 2: Filtering Only (No Theta0 Yet)</vt:lpstr>
      <vt:lpstr>Step 3: Preload Removal + Theta0 + Ramp-Start Snap</vt:lpstr>
      <vt:lpstr>Step 4: Mark And Exclude Ineligible Cycles</vt:lpstr>
      <vt:lpstr>Step 5A: Force-Tip Linear Region Fitting: Intact</vt:lpstr>
      <vt:lpstr>Step 5A: Force-Tip Linear Region Fitting: PUF</vt:lpstr>
      <vt:lpstr>Step 5A: Force-Tip Linear Region Fitting: FUF</vt:lpstr>
      <vt:lpstr>Step 5A: Force-Tip Linear Region Fitting: FBF</vt:lpstr>
      <vt:lpstr>Step 5A: Force-Tip Linear Region Fitting: Posterior Release</vt:lpstr>
      <vt:lpstr>Step 5A: Force-Tip Linear Region Fitting: SPO</vt:lpstr>
      <vt:lpstr>Step 5B: Linear Stiffness Results Across Interventions</vt:lpstr>
      <vt:lpstr>Linear Stiffness Ranking</vt:lpstr>
      <vt:lpstr>Step 6A: Moment-Theta Processing: Intact</vt:lpstr>
      <vt:lpstr>Step 6A: Moment-Theta Processing: PUF</vt:lpstr>
      <vt:lpstr>Step 6A: Moment-Theta Processing: FUF</vt:lpstr>
      <vt:lpstr>Step 6A: Moment-Theta Processing: FBF</vt:lpstr>
      <vt:lpstr>Step 6A: Moment-Theta Processing: Posterior Release</vt:lpstr>
      <vt:lpstr>Step 6A: Moment-Theta Processing: SPO</vt:lpstr>
      <vt:lpstr>Step 6B: Rotational Stiffness Results Across Interventions</vt:lpstr>
      <vt:lpstr>Rotational Stiffness Ranking</vt:lpstr>
      <vt:lpstr>Appended Update: Fit-Point Rules</vt:lpstr>
      <vt:lpstr>Appendix: Filters Used</vt:lpstr>
      <vt:lpstr>Key Takeaways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Riza Bayoglu</dc:creator>
  <cp:keywords/>
  <dc:description>generated using python-pptx</dc:description>
  <cp:lastModifiedBy>Riza Bayoglu</cp:lastModifiedBy>
  <cp:revision>35</cp:revision>
  <dcterms:created xsi:type="dcterms:W3CDTF">2013-01-27T09:14:16Z</dcterms:created>
  <dcterms:modified xsi:type="dcterms:W3CDTF">2026-08-31T18:40:39Z</dcterms:modified>
  <cp:category/>
</cp:coreProperties>
</file>