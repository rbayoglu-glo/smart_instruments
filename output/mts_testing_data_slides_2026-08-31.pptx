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MTS Testing Data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2026-08-31 | Axes flipped: Angle on X, Moment on 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Method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Input: MTS 6DOF Book*.xlsx grouped as FE, LB, AR per intervention</a:t>
            </a:r>
          </a:p>
          <a:p>
            <a:pPr>
              <a:defRPr sz="2000"/>
            </a:pPr>
            <a:r>
              <a:t>Cycle basis: third cycle, centered avg(load/unload)</a:t>
            </a:r>
          </a:p>
          <a:p>
            <a:pPr>
              <a:defRPr sz="2000"/>
            </a:pPr>
            <a:r>
              <a:t>Model: M(theta) = C1*theta + C2*theta^2 + C3*theta^3</a:t>
            </a:r>
          </a:p>
          <a:p>
            <a:pPr>
              <a:defRPr sz="2000"/>
            </a:pPr>
            <a:r>
              <a:t>Plot orientation: angle on x-axis, moment on y-axis</a:t>
            </a:r>
          </a:p>
          <a:p>
            <a:pPr>
              <a:defRPr sz="2000"/>
            </a:pPr>
            <a:r>
              <a:t>Flexion branch display: native negative theta and negative moment</a:t>
            </a:r>
          </a:p>
          <a:p>
            <a:pPr>
              <a:defRPr sz="2000"/>
            </a:pPr>
            <a:r>
              <a:t>Flexion stiffness window: 0 to -5 Nm secant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Flexion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onsolas"/>
              </a:defRPr>
            </a:pPr>
            <a:r>
              <a:t>MTS Flexion Ranking (native negative axes, 0 to -5 Nm secant)</a:t>
            </a:r>
          </a:p>
          <a:p>
            <a:pPr>
              <a:defRPr sz="1300">
                <a:latin typeface="Consolas"/>
              </a:defRPr>
            </a:pPr>
          </a:p>
          <a:p>
            <a:pPr>
              <a:defRPr sz="1300">
                <a:latin typeface="Consolas"/>
              </a:defRPr>
            </a:pPr>
            <a:r>
              <a:t>Rank  Intervention          k [Nm/deg]   R2      n_points</a:t>
            </a:r>
          </a:p>
          <a:p>
            <a:pPr>
              <a:defRPr sz="1300">
                <a:latin typeface="Consolas"/>
              </a:defRPr>
            </a:pPr>
            <a:r>
              <a:t>----------------------------------------------------------</a:t>
            </a:r>
          </a:p>
          <a:p>
            <a:pPr>
              <a:defRPr sz="1300">
                <a:latin typeface="Consolas"/>
              </a:defRPr>
            </a:pPr>
            <a:r>
              <a:t>   1  Posterior Release       0.466     nan         2</a:t>
            </a:r>
          </a:p>
          <a:p>
            <a:pPr>
              <a:defRPr sz="1300">
                <a:latin typeface="Consolas"/>
              </a:defRPr>
            </a:pPr>
            <a:r>
              <a:t>   2  Intact                  0.449     nan         2</a:t>
            </a:r>
          </a:p>
          <a:p>
            <a:pPr>
              <a:defRPr sz="1300">
                <a:latin typeface="Consolas"/>
              </a:defRPr>
            </a:pPr>
            <a:r>
              <a:t>   3  SPO                     0.446     nan         2</a:t>
            </a:r>
          </a:p>
          <a:p>
            <a:pPr>
              <a:defRPr sz="1300">
                <a:latin typeface="Consolas"/>
              </a:defRPr>
            </a:pPr>
            <a:r>
              <a:t>   4  PUF Left                0.429     nan         2</a:t>
            </a:r>
          </a:p>
          <a:p>
            <a:pPr>
              <a:defRPr sz="1300">
                <a:latin typeface="Consolas"/>
              </a:defRPr>
            </a:pPr>
            <a:r>
              <a:t>   5  FBF                     0.414     nan         2</a:t>
            </a:r>
          </a:p>
          <a:p>
            <a:pPr>
              <a:defRPr sz="1300">
                <a:latin typeface="Consolas"/>
              </a:defRPr>
            </a:pPr>
            <a:r>
              <a:t>   6  FUF Left                0.409     nan    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Intact</a:t>
            </a:r>
          </a:p>
        </p:txBody>
      </p:sp>
      <p:pic>
        <p:nvPicPr>
          <p:cNvPr id="3" name="Picture 2" descr="Intac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PUF Left</a:t>
            </a:r>
          </a:p>
        </p:txBody>
      </p:sp>
      <p:pic>
        <p:nvPicPr>
          <p:cNvPr id="3" name="Picture 2" descr="PUF_Lef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FUF Left</a:t>
            </a:r>
          </a:p>
        </p:txBody>
      </p:sp>
      <p:pic>
        <p:nvPicPr>
          <p:cNvPr id="3" name="Picture 2" descr="FUF_Lef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FBF</a:t>
            </a:r>
          </a:p>
        </p:txBody>
      </p:sp>
      <p:pic>
        <p:nvPicPr>
          <p:cNvPr id="3" name="Picture 2" descr="FBF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Posterior Release</a:t>
            </a:r>
          </a:p>
        </p:txBody>
      </p:sp>
      <p:pic>
        <p:nvPicPr>
          <p:cNvPr id="3" name="Picture 2" descr="Posterior_Release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Intervention: SPO</a:t>
            </a:r>
          </a:p>
        </p:txBody>
      </p:sp>
      <p:pic>
        <p:nvPicPr>
          <p:cNvPr id="3" name="Picture 2" descr="SPO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FE (Native Axes): Extension 0-5 and Flexion 0 to -5 Nm Secant Fit Panels</a:t>
            </a:r>
          </a:p>
        </p:txBody>
      </p:sp>
      <p:pic>
        <p:nvPicPr>
          <p:cNvPr id="3" name="Picture 2" descr="mts_flexion_0to5_secant_fi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4313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Flexion (Native Negative Axes): 0 to -5 Nm Secant Stiffness Bar</a:t>
            </a:r>
          </a:p>
        </p:txBody>
      </p:sp>
      <p:pic>
        <p:nvPicPr>
          <p:cNvPr id="3" name="Picture 2" descr="mts_flexion_0to5_secant_stiffnes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8369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Flexion (Native Negative Axes): Four-Method Stiffness Comparison</a:t>
            </a:r>
          </a:p>
        </p:txBody>
      </p:sp>
      <p:pic>
        <p:nvPicPr>
          <p:cNvPr id="3" name="Picture 2" descr="mts_flexion_stiffness_four_method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389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Extension (Native Positive Axes): 0 to 5 Nm Secant Stiffness Bar</a:t>
            </a:r>
          </a:p>
        </p:txBody>
      </p:sp>
      <p:pic>
        <p:nvPicPr>
          <p:cNvPr id="3" name="Picture 2" descr="mts_extension_0to5_secant_stiffnes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8369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MTS Extension (Native Positive Axes): Four-Method Stiffness Comparison</a:t>
            </a:r>
          </a:p>
        </p:txBody>
      </p:sp>
      <p:pic>
        <p:nvPicPr>
          <p:cNvPr id="3" name="Picture 2" descr="mts_extension_stiffness_four_method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389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